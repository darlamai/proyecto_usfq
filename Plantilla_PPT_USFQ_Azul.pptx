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69" r:id="rId5"/>
    <p:sldId id="270" r:id="rId6"/>
    <p:sldId id="268" r:id="rId7"/>
    <p:sldId id="272" r:id="rId8"/>
    <p:sldId id="273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7937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D5BAE-5514-4DE9-B6DF-10491DB05B28}" v="62" dt="2026-09-11T19:50:00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60" y="332"/>
      </p:cViewPr>
      <p:guideLst>
        <p:guide orient="horz" pos="25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lyn Maithe Ludena Cedeno" userId="366861b8-d9a4-4f62-b4e0-fb344f3e3385" providerId="ADAL" clId="{6318A499-274C-4DF4-838F-23AA79B89210}"/>
    <pc:docChg chg="undo custSel addSld delSld modSld">
      <pc:chgData name="Darlyn Maithe Ludena Cedeno" userId="366861b8-d9a4-4f62-b4e0-fb344f3e3385" providerId="ADAL" clId="{6318A499-274C-4DF4-838F-23AA79B89210}" dt="2026-09-11T20:11:33.675" v="3907" actId="1076"/>
      <pc:docMkLst>
        <pc:docMk/>
      </pc:docMkLst>
      <pc:sldChg chg="modSp mod">
        <pc:chgData name="Darlyn Maithe Ludena Cedeno" userId="366861b8-d9a4-4f62-b4e0-fb344f3e3385" providerId="ADAL" clId="{6318A499-274C-4DF4-838F-23AA79B89210}" dt="2026-09-11T14:20:54.743" v="93" actId="14100"/>
        <pc:sldMkLst>
          <pc:docMk/>
          <pc:sldMk cId="0" sldId="257"/>
        </pc:sldMkLst>
        <pc:spChg chg="mod">
          <ac:chgData name="Darlyn Maithe Ludena Cedeno" userId="366861b8-d9a4-4f62-b4e0-fb344f3e3385" providerId="ADAL" clId="{6318A499-274C-4DF4-838F-23AA79B89210}" dt="2026-09-11T14:20:54.743" v="93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rlyn Maithe Ludena Cedeno" userId="366861b8-d9a4-4f62-b4e0-fb344f3e3385" providerId="ADAL" clId="{6318A499-274C-4DF4-838F-23AA79B89210}" dt="2026-09-11T14:19:56.303" v="0" actId="1076"/>
          <ac:spMkLst>
            <pc:docMk/>
            <pc:sldMk cId="0" sldId="257"/>
            <ac:spMk id="30" creationId="{93EDC23B-71FF-B262-25EC-74EDAB78EB8F}"/>
          </ac:spMkLst>
        </pc:spChg>
      </pc:sldChg>
      <pc:sldChg chg="delSp modSp mod">
        <pc:chgData name="Darlyn Maithe Ludena Cedeno" userId="366861b8-d9a4-4f62-b4e0-fb344f3e3385" providerId="ADAL" clId="{6318A499-274C-4DF4-838F-23AA79B89210}" dt="2026-09-11T20:11:33.675" v="3907" actId="1076"/>
        <pc:sldMkLst>
          <pc:docMk/>
          <pc:sldMk cId="0" sldId="258"/>
        </pc:sldMkLst>
        <pc:spChg chg="mod">
          <ac:chgData name="Darlyn Maithe Ludena Cedeno" userId="366861b8-d9a4-4f62-b4e0-fb344f3e3385" providerId="ADAL" clId="{6318A499-274C-4DF4-838F-23AA79B89210}" dt="2026-09-11T20:11:29.338" v="3905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arlyn Maithe Ludena Cedeno" userId="366861b8-d9a4-4f62-b4e0-fb344f3e3385" providerId="ADAL" clId="{6318A499-274C-4DF4-838F-23AA79B89210}" dt="2026-09-11T20:11:31.695" v="3906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Darlyn Maithe Ludena Cedeno" userId="366861b8-d9a4-4f62-b4e0-fb344f3e3385" providerId="ADAL" clId="{6318A499-274C-4DF4-838F-23AA79B89210}" dt="2026-09-11T20:11:33.675" v="3907" actId="1076"/>
          <ac:spMkLst>
            <pc:docMk/>
            <pc:sldMk cId="0" sldId="258"/>
            <ac:spMk id="5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0:59.611" v="3883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0:58.837" v="3882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25.417" v="3904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1.255" v="3885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0.547" v="3884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2.126" v="388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4.475" v="388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3.127" v="3887" actId="47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Darlyn Maithe Ludena Cedeno" userId="366861b8-d9a4-4f62-b4e0-fb344f3e3385" providerId="ADAL" clId="{6318A499-274C-4DF4-838F-23AA79B89210}" dt="2026-09-11T20:11:18.672" v="3900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9.913" v="3893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20.555" v="3901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16.406" v="3898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9.155" v="3892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22.401" v="3902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15.295" v="3897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12.260" v="3895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24.053" v="3903" actId="478"/>
          <ac:spMkLst>
            <pc:docMk/>
            <pc:sldMk cId="0" sldId="258"/>
            <ac:spMk id="26" creationId="{00000000-0000-0000-0000-000000000000}"/>
          </ac:spMkLst>
        </pc:spChg>
        <pc:spChg chg="del mod">
          <ac:chgData name="Darlyn Maithe Ludena Cedeno" userId="366861b8-d9a4-4f62-b4e0-fb344f3e3385" providerId="ADAL" clId="{6318A499-274C-4DF4-838F-23AA79B89210}" dt="2026-09-11T20:11:13.293" v="3896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5.198" v="3889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8.314" v="3891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Darlyn Maithe Ludena Cedeno" userId="366861b8-d9a4-4f62-b4e0-fb344f3e3385" providerId="ADAL" clId="{6318A499-274C-4DF4-838F-23AA79B89210}" dt="2026-09-11T20:11:06.623" v="3890" actId="478"/>
          <ac:spMkLst>
            <pc:docMk/>
            <pc:sldMk cId="0" sldId="258"/>
            <ac:spMk id="30" creationId="{00000000-0000-0000-0000-000000000000}"/>
          </ac:spMkLst>
        </pc:spChg>
      </pc:sldChg>
      <pc:sldChg chg="addSp delSp modSp mod">
        <pc:chgData name="Darlyn Maithe Ludena Cedeno" userId="366861b8-d9a4-4f62-b4e0-fb344f3e3385" providerId="ADAL" clId="{6318A499-274C-4DF4-838F-23AA79B89210}" dt="2026-09-11T17:57:42.757" v="2306" actId="14100"/>
        <pc:sldMkLst>
          <pc:docMk/>
          <pc:sldMk cId="830660469" sldId="268"/>
        </pc:sldMkLst>
        <pc:spChg chg="mod">
          <ac:chgData name="Darlyn Maithe Ludena Cedeno" userId="366861b8-d9a4-4f62-b4e0-fb344f3e3385" providerId="ADAL" clId="{6318A499-274C-4DF4-838F-23AA79B89210}" dt="2026-09-11T17:57:42.757" v="2306" actId="14100"/>
          <ac:spMkLst>
            <pc:docMk/>
            <pc:sldMk cId="830660469" sldId="268"/>
            <ac:spMk id="3" creationId="{9B0A31DD-89ED-C49E-F29C-78AE41E27F00}"/>
          </ac:spMkLst>
        </pc:spChg>
        <pc:spChg chg="del">
          <ac:chgData name="Darlyn Maithe Ludena Cedeno" userId="366861b8-d9a4-4f62-b4e0-fb344f3e3385" providerId="ADAL" clId="{6318A499-274C-4DF4-838F-23AA79B89210}" dt="2026-09-11T16:54:11.757" v="1367" actId="478"/>
          <ac:spMkLst>
            <pc:docMk/>
            <pc:sldMk cId="830660469" sldId="268"/>
            <ac:spMk id="6" creationId="{246403F6-3FC9-00E4-9D04-E4F9DCA15ECC}"/>
          </ac:spMkLst>
        </pc:spChg>
        <pc:spChg chg="add mod">
          <ac:chgData name="Darlyn Maithe Ludena Cedeno" userId="366861b8-d9a4-4f62-b4e0-fb344f3e3385" providerId="ADAL" clId="{6318A499-274C-4DF4-838F-23AA79B89210}" dt="2026-09-11T17:49:01.219" v="1924" actId="1076"/>
          <ac:spMkLst>
            <pc:docMk/>
            <pc:sldMk cId="830660469" sldId="268"/>
            <ac:spMk id="7" creationId="{28D3FB39-F79D-4D1A-E51D-DDD7086F5659}"/>
          </ac:spMkLst>
        </pc:spChg>
        <pc:spChg chg="del">
          <ac:chgData name="Darlyn Maithe Ludena Cedeno" userId="366861b8-d9a4-4f62-b4e0-fb344f3e3385" providerId="ADAL" clId="{6318A499-274C-4DF4-838F-23AA79B89210}" dt="2026-09-11T16:54:04.199" v="1362" actId="478"/>
          <ac:spMkLst>
            <pc:docMk/>
            <pc:sldMk cId="830660469" sldId="268"/>
            <ac:spMk id="8" creationId="{2F2798A6-F23A-80B9-EFCF-105AF368D55A}"/>
          </ac:spMkLst>
        </pc:spChg>
        <pc:spChg chg="del">
          <ac:chgData name="Darlyn Maithe Ludena Cedeno" userId="366861b8-d9a4-4f62-b4e0-fb344f3e3385" providerId="ADAL" clId="{6318A499-274C-4DF4-838F-23AA79B89210}" dt="2026-09-11T16:54:10.933" v="1366" actId="478"/>
          <ac:spMkLst>
            <pc:docMk/>
            <pc:sldMk cId="830660469" sldId="268"/>
            <ac:spMk id="9" creationId="{D3AD4A35-2B46-5760-EDCD-1943FFBC3C71}"/>
          </ac:spMkLst>
        </pc:spChg>
        <pc:spChg chg="del">
          <ac:chgData name="Darlyn Maithe Ludena Cedeno" userId="366861b8-d9a4-4f62-b4e0-fb344f3e3385" providerId="ADAL" clId="{6318A499-274C-4DF4-838F-23AA79B89210}" dt="2026-09-11T16:54:09.828" v="1365" actId="478"/>
          <ac:spMkLst>
            <pc:docMk/>
            <pc:sldMk cId="830660469" sldId="268"/>
            <ac:spMk id="10" creationId="{C5D2BB4F-BD8B-5677-BE8C-FAC1DE1B4F3B}"/>
          </ac:spMkLst>
        </pc:spChg>
        <pc:spChg chg="del mod">
          <ac:chgData name="Darlyn Maithe Ludena Cedeno" userId="366861b8-d9a4-4f62-b4e0-fb344f3e3385" providerId="ADAL" clId="{6318A499-274C-4DF4-838F-23AA79B89210}" dt="2026-09-11T16:54:08.151" v="1364" actId="478"/>
          <ac:spMkLst>
            <pc:docMk/>
            <pc:sldMk cId="830660469" sldId="268"/>
            <ac:spMk id="11" creationId="{2E82410F-5A10-A2ED-C293-244BD98DE3A5}"/>
          </ac:spMkLst>
        </pc:spChg>
        <pc:spChg chg="del">
          <ac:chgData name="Darlyn Maithe Ludena Cedeno" userId="366861b8-d9a4-4f62-b4e0-fb344f3e3385" providerId="ADAL" clId="{6318A499-274C-4DF4-838F-23AA79B89210}" dt="2026-09-11T16:54:15.675" v="1371" actId="478"/>
          <ac:spMkLst>
            <pc:docMk/>
            <pc:sldMk cId="830660469" sldId="268"/>
            <ac:spMk id="12" creationId="{E99BB1D1-AA62-077C-A19A-CF1AE977FA95}"/>
          </ac:spMkLst>
        </pc:spChg>
        <pc:spChg chg="del">
          <ac:chgData name="Darlyn Maithe Ludena Cedeno" userId="366861b8-d9a4-4f62-b4e0-fb344f3e3385" providerId="ADAL" clId="{6318A499-274C-4DF4-838F-23AA79B89210}" dt="2026-09-11T16:54:12.664" v="1368" actId="478"/>
          <ac:spMkLst>
            <pc:docMk/>
            <pc:sldMk cId="830660469" sldId="268"/>
            <ac:spMk id="13" creationId="{1AA9C5CC-76E2-4078-97AC-92EAB8768CD2}"/>
          </ac:spMkLst>
        </pc:spChg>
        <pc:spChg chg="del mod">
          <ac:chgData name="Darlyn Maithe Ludena Cedeno" userId="366861b8-d9a4-4f62-b4e0-fb344f3e3385" providerId="ADAL" clId="{6318A499-274C-4DF4-838F-23AA79B89210}" dt="2026-09-11T16:54:14.582" v="1370" actId="478"/>
          <ac:spMkLst>
            <pc:docMk/>
            <pc:sldMk cId="830660469" sldId="268"/>
            <ac:spMk id="14" creationId="{07BD650F-0324-E2FC-1BB0-89717DE5AC1B}"/>
          </ac:spMkLst>
        </pc:spChg>
        <pc:spChg chg="add mod">
          <ac:chgData name="Darlyn Maithe Ludena Cedeno" userId="366861b8-d9a4-4f62-b4e0-fb344f3e3385" providerId="ADAL" clId="{6318A499-274C-4DF4-838F-23AA79B89210}" dt="2026-09-11T17:49:25.483" v="1931" actId="1076"/>
          <ac:spMkLst>
            <pc:docMk/>
            <pc:sldMk cId="830660469" sldId="268"/>
            <ac:spMk id="16" creationId="{63E1166D-F278-7C88-CA2C-859B51CC1A3C}"/>
          </ac:spMkLst>
        </pc:spChg>
        <pc:spChg chg="add mod">
          <ac:chgData name="Darlyn Maithe Ludena Cedeno" userId="366861b8-d9a4-4f62-b4e0-fb344f3e3385" providerId="ADAL" clId="{6318A499-274C-4DF4-838F-23AA79B89210}" dt="2026-09-11T17:55:05.158" v="2186" actId="12"/>
          <ac:spMkLst>
            <pc:docMk/>
            <pc:sldMk cId="830660469" sldId="268"/>
            <ac:spMk id="17" creationId="{1F947CFF-EC0F-CEAC-B425-ED2C6DF3E31F}"/>
          </ac:spMkLst>
        </pc:spChg>
        <pc:spChg chg="add mod">
          <ac:chgData name="Darlyn Maithe Ludena Cedeno" userId="366861b8-d9a4-4f62-b4e0-fb344f3e3385" providerId="ADAL" clId="{6318A499-274C-4DF4-838F-23AA79B89210}" dt="2026-09-11T17:55:11.787" v="2188" actId="1076"/>
          <ac:spMkLst>
            <pc:docMk/>
            <pc:sldMk cId="830660469" sldId="268"/>
            <ac:spMk id="18" creationId="{AFC4F94D-9FEA-12F3-DE25-B777AD4C1E7E}"/>
          </ac:spMkLst>
        </pc:spChg>
        <pc:spChg chg="add del mod">
          <ac:chgData name="Darlyn Maithe Ludena Cedeno" userId="366861b8-d9a4-4f62-b4e0-fb344f3e3385" providerId="ADAL" clId="{6318A499-274C-4DF4-838F-23AA79B89210}" dt="2026-09-11T17:55:08.182" v="2187" actId="478"/>
          <ac:spMkLst>
            <pc:docMk/>
            <pc:sldMk cId="830660469" sldId="268"/>
            <ac:spMk id="20" creationId="{19468B6D-AD95-EFA6-8D26-C626A70F6814}"/>
          </ac:spMkLst>
        </pc:spChg>
        <pc:spChg chg="mod">
          <ac:chgData name="Darlyn Maithe Ludena Cedeno" userId="366861b8-d9a4-4f62-b4e0-fb344f3e3385" providerId="ADAL" clId="{6318A499-274C-4DF4-838F-23AA79B89210}" dt="2026-09-11T17:33:08.433" v="1528" actId="1076"/>
          <ac:spMkLst>
            <pc:docMk/>
            <pc:sldMk cId="830660469" sldId="268"/>
            <ac:spMk id="21" creationId="{39F907B7-1C4A-121B-67F4-EB49EECAC1C5}"/>
          </ac:spMkLst>
        </pc:spChg>
        <pc:spChg chg="mod">
          <ac:chgData name="Darlyn Maithe Ludena Cedeno" userId="366861b8-d9a4-4f62-b4e0-fb344f3e3385" providerId="ADAL" clId="{6318A499-274C-4DF4-838F-23AA79B89210}" dt="2026-09-11T17:33:12.419" v="1529" actId="1076"/>
          <ac:spMkLst>
            <pc:docMk/>
            <pc:sldMk cId="830660469" sldId="268"/>
            <ac:spMk id="22" creationId="{1B83BA80-001B-3D5B-801D-D05B2484A468}"/>
          </ac:spMkLst>
        </pc:spChg>
        <pc:spChg chg="add mod">
          <ac:chgData name="Darlyn Maithe Ludena Cedeno" userId="366861b8-d9a4-4f62-b4e0-fb344f3e3385" providerId="ADAL" clId="{6318A499-274C-4DF4-838F-23AA79B89210}" dt="2026-09-11T17:56:10.146" v="2191" actId="207"/>
          <ac:spMkLst>
            <pc:docMk/>
            <pc:sldMk cId="830660469" sldId="268"/>
            <ac:spMk id="24" creationId="{DFC04A42-3183-9042-0E08-0B14443F64EA}"/>
          </ac:spMkLst>
        </pc:spChg>
      </pc:sldChg>
      <pc:sldChg chg="modSp mod">
        <pc:chgData name="Darlyn Maithe Ludena Cedeno" userId="366861b8-d9a4-4f62-b4e0-fb344f3e3385" providerId="ADAL" clId="{6318A499-274C-4DF4-838F-23AA79B89210}" dt="2026-09-11T16:53:46.630" v="1361" actId="20577"/>
        <pc:sldMkLst>
          <pc:docMk/>
          <pc:sldMk cId="797939179" sldId="269"/>
        </pc:sldMkLst>
        <pc:graphicFrameChg chg="modGraphic">
          <ac:chgData name="Darlyn Maithe Ludena Cedeno" userId="366861b8-d9a4-4f62-b4e0-fb344f3e3385" providerId="ADAL" clId="{6318A499-274C-4DF4-838F-23AA79B89210}" dt="2026-09-11T16:53:46.630" v="1361" actId="20577"/>
          <ac:graphicFrameMkLst>
            <pc:docMk/>
            <pc:sldMk cId="797939179" sldId="269"/>
            <ac:graphicFrameMk id="7" creationId="{9EE05AF8-BF29-09B5-CC83-19C437331799}"/>
          </ac:graphicFrameMkLst>
        </pc:graphicFrameChg>
      </pc:sldChg>
      <pc:sldChg chg="addSp delSp modSp add mod">
        <pc:chgData name="Darlyn Maithe Ludena Cedeno" userId="366861b8-d9a4-4f62-b4e0-fb344f3e3385" providerId="ADAL" clId="{6318A499-274C-4DF4-838F-23AA79B89210}" dt="2026-09-11T16:53:17.094" v="1352"/>
        <pc:sldMkLst>
          <pc:docMk/>
          <pc:sldMk cId="2646875564" sldId="271"/>
        </pc:sldMkLst>
        <pc:spChg chg="mod">
          <ac:chgData name="Darlyn Maithe Ludena Cedeno" userId="366861b8-d9a4-4f62-b4e0-fb344f3e3385" providerId="ADAL" clId="{6318A499-274C-4DF4-838F-23AA79B89210}" dt="2026-09-11T14:21:06.682" v="125" actId="20577"/>
          <ac:spMkLst>
            <pc:docMk/>
            <pc:sldMk cId="2646875564" sldId="271"/>
            <ac:spMk id="3" creationId="{AD384153-6FE3-6C85-5C2D-E7D6285DD3B7}"/>
          </ac:spMkLst>
        </pc:spChg>
        <pc:spChg chg="add mod">
          <ac:chgData name="Darlyn Maithe Ludena Cedeno" userId="366861b8-d9a4-4f62-b4e0-fb344f3e3385" providerId="ADAL" clId="{6318A499-274C-4DF4-838F-23AA79B89210}" dt="2026-09-11T16:43:01.126" v="1013" actId="14100"/>
          <ac:spMkLst>
            <pc:docMk/>
            <pc:sldMk cId="2646875564" sldId="271"/>
            <ac:spMk id="6" creationId="{14DA9696-3C2B-A4CE-40DB-8D7F7B32D5A6}"/>
          </ac:spMkLst>
        </pc:spChg>
        <pc:spChg chg="del">
          <ac:chgData name="Darlyn Maithe Ludena Cedeno" userId="366861b8-d9a4-4f62-b4e0-fb344f3e3385" providerId="ADAL" clId="{6318A499-274C-4DF4-838F-23AA79B89210}" dt="2026-09-11T14:21:31.232" v="126" actId="478"/>
          <ac:spMkLst>
            <pc:docMk/>
            <pc:sldMk cId="2646875564" sldId="271"/>
            <ac:spMk id="8" creationId="{14E6935E-2B92-6AB5-2049-FEA72F1E2EBF}"/>
          </ac:spMkLst>
        </pc:spChg>
        <pc:spChg chg="del">
          <ac:chgData name="Darlyn Maithe Ludena Cedeno" userId="366861b8-d9a4-4f62-b4e0-fb344f3e3385" providerId="ADAL" clId="{6318A499-274C-4DF4-838F-23AA79B89210}" dt="2026-09-11T14:21:43.715" v="135" actId="478"/>
          <ac:spMkLst>
            <pc:docMk/>
            <pc:sldMk cId="2646875564" sldId="271"/>
            <ac:spMk id="9" creationId="{468D0E6F-BABF-E3EC-A744-E673BCE4887A}"/>
          </ac:spMkLst>
        </pc:spChg>
        <pc:spChg chg="del mod">
          <ac:chgData name="Darlyn Maithe Ludena Cedeno" userId="366861b8-d9a4-4f62-b4e0-fb344f3e3385" providerId="ADAL" clId="{6318A499-274C-4DF4-838F-23AA79B89210}" dt="2026-09-11T14:21:38.377" v="131" actId="478"/>
          <ac:spMkLst>
            <pc:docMk/>
            <pc:sldMk cId="2646875564" sldId="271"/>
            <ac:spMk id="10" creationId="{1DB867DF-38EF-870F-C7C4-CA6A85CC1E68}"/>
          </ac:spMkLst>
        </pc:spChg>
        <pc:spChg chg="del mod">
          <ac:chgData name="Darlyn Maithe Ludena Cedeno" userId="366861b8-d9a4-4f62-b4e0-fb344f3e3385" providerId="ADAL" clId="{6318A499-274C-4DF4-838F-23AA79B89210}" dt="2026-09-11T16:44:16.492" v="1040" actId="478"/>
          <ac:spMkLst>
            <pc:docMk/>
            <pc:sldMk cId="2646875564" sldId="271"/>
            <ac:spMk id="11" creationId="{96597800-A6D7-7BAA-C4E6-2CAC4E3B4421}"/>
          </ac:spMkLst>
        </pc:spChg>
        <pc:spChg chg="del">
          <ac:chgData name="Darlyn Maithe Ludena Cedeno" userId="366861b8-d9a4-4f62-b4e0-fb344f3e3385" providerId="ADAL" clId="{6318A499-274C-4DF4-838F-23AA79B89210}" dt="2026-09-11T14:21:32.895" v="127" actId="478"/>
          <ac:spMkLst>
            <pc:docMk/>
            <pc:sldMk cId="2646875564" sldId="271"/>
            <ac:spMk id="12" creationId="{0F4B681A-97AE-9CB3-C046-2F2BF5AC2CD3}"/>
          </ac:spMkLst>
        </pc:spChg>
        <pc:spChg chg="del">
          <ac:chgData name="Darlyn Maithe Ludena Cedeno" userId="366861b8-d9a4-4f62-b4e0-fb344f3e3385" providerId="ADAL" clId="{6318A499-274C-4DF4-838F-23AA79B89210}" dt="2026-09-11T14:21:43.052" v="134" actId="478"/>
          <ac:spMkLst>
            <pc:docMk/>
            <pc:sldMk cId="2646875564" sldId="271"/>
            <ac:spMk id="13" creationId="{EE9CA0C1-1316-328A-5EC4-FE95B95E5E78}"/>
          </ac:spMkLst>
        </pc:spChg>
        <pc:spChg chg="del">
          <ac:chgData name="Darlyn Maithe Ludena Cedeno" userId="366861b8-d9a4-4f62-b4e0-fb344f3e3385" providerId="ADAL" clId="{6318A499-274C-4DF4-838F-23AA79B89210}" dt="2026-09-11T14:21:39.740" v="132" actId="478"/>
          <ac:spMkLst>
            <pc:docMk/>
            <pc:sldMk cId="2646875564" sldId="271"/>
            <ac:spMk id="14" creationId="{133BBB78-9157-D52B-7291-37A52944AAB2}"/>
          </ac:spMkLst>
        </pc:spChg>
        <pc:spChg chg="add mod">
          <ac:chgData name="Darlyn Maithe Ludena Cedeno" userId="366861b8-d9a4-4f62-b4e0-fb344f3e3385" providerId="ADAL" clId="{6318A499-274C-4DF4-838F-23AA79B89210}" dt="2026-09-11T16:53:17.094" v="1352"/>
          <ac:spMkLst>
            <pc:docMk/>
            <pc:sldMk cId="2646875564" sldId="271"/>
            <ac:spMk id="15" creationId="{5B3B5EE3-AC93-43CA-121D-31E35C4A6270}"/>
          </ac:spMkLst>
        </pc:spChg>
        <pc:spChg chg="add mod">
          <ac:chgData name="Darlyn Maithe Ludena Cedeno" userId="366861b8-d9a4-4f62-b4e0-fb344f3e3385" providerId="ADAL" clId="{6318A499-274C-4DF4-838F-23AA79B89210}" dt="2026-09-11T16:43:19.172" v="1018" actId="20577"/>
          <ac:spMkLst>
            <pc:docMk/>
            <pc:sldMk cId="2646875564" sldId="271"/>
            <ac:spMk id="17" creationId="{7BD728BB-AB5D-4FCD-1F87-2F58D401E4ED}"/>
          </ac:spMkLst>
        </pc:spChg>
        <pc:spChg chg="add mod">
          <ac:chgData name="Darlyn Maithe Ludena Cedeno" userId="366861b8-d9a4-4f62-b4e0-fb344f3e3385" providerId="ADAL" clId="{6318A499-274C-4DF4-838F-23AA79B89210}" dt="2026-09-11T16:46:39.787" v="1322" actId="14100"/>
          <ac:spMkLst>
            <pc:docMk/>
            <pc:sldMk cId="2646875564" sldId="271"/>
            <ac:spMk id="19" creationId="{79EF4254-AA1E-E651-848F-4E911C34D45D}"/>
          </ac:spMkLst>
        </pc:spChg>
        <pc:spChg chg="add del mod">
          <ac:chgData name="Darlyn Maithe Ludena Cedeno" userId="366861b8-d9a4-4f62-b4e0-fb344f3e3385" providerId="ADAL" clId="{6318A499-274C-4DF4-838F-23AA79B89210}" dt="2026-09-11T16:20:34.979" v="655"/>
          <ac:spMkLst>
            <pc:docMk/>
            <pc:sldMk cId="2646875564" sldId="271"/>
            <ac:spMk id="20" creationId="{AEA56841-CA03-EB26-8AFA-A3C2D212EA4B}"/>
          </ac:spMkLst>
        </pc:spChg>
        <pc:spChg chg="add mod">
          <ac:chgData name="Darlyn Maithe Ludena Cedeno" userId="366861b8-d9a4-4f62-b4e0-fb344f3e3385" providerId="ADAL" clId="{6318A499-274C-4DF4-838F-23AA79B89210}" dt="2026-09-11T16:46:43.239" v="1323" actId="1076"/>
          <ac:spMkLst>
            <pc:docMk/>
            <pc:sldMk cId="2646875564" sldId="271"/>
            <ac:spMk id="23" creationId="{C8F7FEFA-175F-981B-390F-26E53FB0027E}"/>
          </ac:spMkLst>
        </pc:spChg>
        <pc:spChg chg="del">
          <ac:chgData name="Darlyn Maithe Ludena Cedeno" userId="366861b8-d9a4-4f62-b4e0-fb344f3e3385" providerId="ADAL" clId="{6318A499-274C-4DF4-838F-23AA79B89210}" dt="2026-09-11T14:21:44.599" v="136" actId="478"/>
          <ac:spMkLst>
            <pc:docMk/>
            <pc:sldMk cId="2646875564" sldId="271"/>
            <ac:spMk id="26" creationId="{5EAEA38D-6544-621E-9135-503E74F327E5}"/>
          </ac:spMkLst>
        </pc:spChg>
        <pc:spChg chg="del">
          <ac:chgData name="Darlyn Maithe Ludena Cedeno" userId="366861b8-d9a4-4f62-b4e0-fb344f3e3385" providerId="ADAL" clId="{6318A499-274C-4DF4-838F-23AA79B89210}" dt="2026-09-11T14:21:34.100" v="128" actId="478"/>
          <ac:spMkLst>
            <pc:docMk/>
            <pc:sldMk cId="2646875564" sldId="271"/>
            <ac:spMk id="28" creationId="{8523B743-D2CC-BED1-567D-AE8FA12F8CB2}"/>
          </ac:spMkLst>
        </pc:spChg>
        <pc:spChg chg="del">
          <ac:chgData name="Darlyn Maithe Ludena Cedeno" userId="366861b8-d9a4-4f62-b4e0-fb344f3e3385" providerId="ADAL" clId="{6318A499-274C-4DF4-838F-23AA79B89210}" dt="2026-09-11T14:21:41.691" v="133" actId="478"/>
          <ac:spMkLst>
            <pc:docMk/>
            <pc:sldMk cId="2646875564" sldId="271"/>
            <ac:spMk id="30" creationId="{26B9424B-BFE7-79F9-08EA-51D5A13EDC55}"/>
          </ac:spMkLst>
        </pc:spChg>
        <pc:picChg chg="add del">
          <ac:chgData name="Darlyn Maithe Ludena Cedeno" userId="366861b8-d9a4-4f62-b4e0-fb344f3e3385" providerId="ADAL" clId="{6318A499-274C-4DF4-838F-23AA79B89210}" dt="2026-09-11T16:35:53.637" v="683" actId="478"/>
          <ac:picMkLst>
            <pc:docMk/>
            <pc:sldMk cId="2646875564" sldId="271"/>
            <ac:picMk id="25" creationId="{D57D22CB-A42A-2930-6A23-DDCB80CEE7D4}"/>
          </ac:picMkLst>
        </pc:picChg>
      </pc:sldChg>
      <pc:sldChg chg="new del">
        <pc:chgData name="Darlyn Maithe Ludena Cedeno" userId="366861b8-d9a4-4f62-b4e0-fb344f3e3385" providerId="ADAL" clId="{6318A499-274C-4DF4-838F-23AA79B89210}" dt="2026-09-11T14:20:10.146" v="2" actId="47"/>
        <pc:sldMkLst>
          <pc:docMk/>
          <pc:sldMk cId="4218403995" sldId="271"/>
        </pc:sldMkLst>
      </pc:sldChg>
      <pc:sldChg chg="addSp delSp modSp add mod">
        <pc:chgData name="Darlyn Maithe Ludena Cedeno" userId="366861b8-d9a4-4f62-b4e0-fb344f3e3385" providerId="ADAL" clId="{6318A499-274C-4DF4-838F-23AA79B89210}" dt="2026-09-11T19:20:38.919" v="2685" actId="14100"/>
        <pc:sldMkLst>
          <pc:docMk/>
          <pc:sldMk cId="3005903449" sldId="272"/>
        </pc:sldMkLst>
        <pc:spChg chg="mod">
          <ac:chgData name="Darlyn Maithe Ludena Cedeno" userId="366861b8-d9a4-4f62-b4e0-fb344f3e3385" providerId="ADAL" clId="{6318A499-274C-4DF4-838F-23AA79B89210}" dt="2026-09-11T17:56:51.907" v="2273" actId="14100"/>
          <ac:spMkLst>
            <pc:docMk/>
            <pc:sldMk cId="3005903449" sldId="272"/>
            <ac:spMk id="3" creationId="{9598B65B-6306-2D32-F98D-8D91197DE7F5}"/>
          </ac:spMkLst>
        </pc:spChg>
        <pc:spChg chg="add mod">
          <ac:chgData name="Darlyn Maithe Ludena Cedeno" userId="366861b8-d9a4-4f62-b4e0-fb344f3e3385" providerId="ADAL" clId="{6318A499-274C-4DF4-838F-23AA79B89210}" dt="2026-09-11T19:10:10.915" v="2670" actId="1076"/>
          <ac:spMkLst>
            <pc:docMk/>
            <pc:sldMk cId="3005903449" sldId="272"/>
            <ac:spMk id="6" creationId="{996B62A5-2EFE-ED06-A6FD-90F179A60601}"/>
          </ac:spMkLst>
        </pc:spChg>
        <pc:spChg chg="mod">
          <ac:chgData name="Darlyn Maithe Ludena Cedeno" userId="366861b8-d9a4-4f62-b4e0-fb344f3e3385" providerId="ADAL" clId="{6318A499-274C-4DF4-838F-23AA79B89210}" dt="2026-09-11T18:00:27.355" v="2391" actId="1076"/>
          <ac:spMkLst>
            <pc:docMk/>
            <pc:sldMk cId="3005903449" sldId="272"/>
            <ac:spMk id="7" creationId="{5DFC92E9-BFCD-1CF5-D4F5-7632D3D3D397}"/>
          </ac:spMkLst>
        </pc:spChg>
        <pc:spChg chg="add mod">
          <ac:chgData name="Darlyn Maithe Ludena Cedeno" userId="366861b8-d9a4-4f62-b4e0-fb344f3e3385" providerId="ADAL" clId="{6318A499-274C-4DF4-838F-23AA79B89210}" dt="2026-09-11T19:10:15.546" v="2671" actId="14100"/>
          <ac:spMkLst>
            <pc:docMk/>
            <pc:sldMk cId="3005903449" sldId="272"/>
            <ac:spMk id="9" creationId="{EB30DEA2-C492-AD98-3503-D2BF0D2DEDCB}"/>
          </ac:spMkLst>
        </pc:spChg>
        <pc:spChg chg="add mod">
          <ac:chgData name="Darlyn Maithe Ludena Cedeno" userId="366861b8-d9a4-4f62-b4e0-fb344f3e3385" providerId="ADAL" clId="{6318A499-274C-4DF4-838F-23AA79B89210}" dt="2026-09-11T19:09:53.928" v="2666" actId="1076"/>
          <ac:spMkLst>
            <pc:docMk/>
            <pc:sldMk cId="3005903449" sldId="272"/>
            <ac:spMk id="11" creationId="{ECF6E56C-87E1-B93F-3D76-FF5480EF74C7}"/>
          </ac:spMkLst>
        </pc:spChg>
        <pc:spChg chg="add mod">
          <ac:chgData name="Darlyn Maithe Ludena Cedeno" userId="366861b8-d9a4-4f62-b4e0-fb344f3e3385" providerId="ADAL" clId="{6318A499-274C-4DF4-838F-23AA79B89210}" dt="2026-09-11T19:20:10.834" v="2681" actId="207"/>
          <ac:spMkLst>
            <pc:docMk/>
            <pc:sldMk cId="3005903449" sldId="272"/>
            <ac:spMk id="13" creationId="{21A7E4F3-1E5A-CCDD-FEF3-8D1223D760E6}"/>
          </ac:spMkLst>
        </pc:spChg>
        <pc:spChg chg="add del mod">
          <ac:chgData name="Darlyn Maithe Ludena Cedeno" userId="366861b8-d9a4-4f62-b4e0-fb344f3e3385" providerId="ADAL" clId="{6318A499-274C-4DF4-838F-23AA79B89210}" dt="2026-09-11T19:20:30.578" v="2682" actId="478"/>
          <ac:spMkLst>
            <pc:docMk/>
            <pc:sldMk cId="3005903449" sldId="272"/>
            <ac:spMk id="15" creationId="{580E1E93-6097-252E-B95D-5AE250C73C17}"/>
          </ac:spMkLst>
        </pc:spChg>
        <pc:spChg chg="mod">
          <ac:chgData name="Darlyn Maithe Ludena Cedeno" userId="366861b8-d9a4-4f62-b4e0-fb344f3e3385" providerId="ADAL" clId="{6318A499-274C-4DF4-838F-23AA79B89210}" dt="2026-09-11T19:07:37.815" v="2657" actId="20577"/>
          <ac:spMkLst>
            <pc:docMk/>
            <pc:sldMk cId="3005903449" sldId="272"/>
            <ac:spMk id="16" creationId="{B10FCBE5-9336-62D5-CBB1-17DBF12C16F0}"/>
          </ac:spMkLst>
        </pc:spChg>
        <pc:spChg chg="del">
          <ac:chgData name="Darlyn Maithe Ludena Cedeno" userId="366861b8-d9a4-4f62-b4e0-fb344f3e3385" providerId="ADAL" clId="{6318A499-274C-4DF4-838F-23AA79B89210}" dt="2026-09-11T17:43:54.163" v="1880" actId="478"/>
          <ac:spMkLst>
            <pc:docMk/>
            <pc:sldMk cId="3005903449" sldId="272"/>
            <ac:spMk id="17" creationId="{500F4F0D-697B-B06E-FA6F-5DDABA467EEC}"/>
          </ac:spMkLst>
        </pc:spChg>
        <pc:spChg chg="del">
          <ac:chgData name="Darlyn Maithe Ludena Cedeno" userId="366861b8-d9a4-4f62-b4e0-fb344f3e3385" providerId="ADAL" clId="{6318A499-274C-4DF4-838F-23AA79B89210}" dt="2026-09-11T17:43:59.978" v="1881" actId="478"/>
          <ac:spMkLst>
            <pc:docMk/>
            <pc:sldMk cId="3005903449" sldId="272"/>
            <ac:spMk id="18" creationId="{086A9205-EC72-7413-6B64-5461F23FB1D6}"/>
          </ac:spMkLst>
        </pc:spChg>
        <pc:spChg chg="del">
          <ac:chgData name="Darlyn Maithe Ludena Cedeno" userId="366861b8-d9a4-4f62-b4e0-fb344f3e3385" providerId="ADAL" clId="{6318A499-274C-4DF4-838F-23AA79B89210}" dt="2026-09-11T17:43:51.288" v="1879" actId="478"/>
          <ac:spMkLst>
            <pc:docMk/>
            <pc:sldMk cId="3005903449" sldId="272"/>
            <ac:spMk id="20" creationId="{C08F0EC8-A8F5-62D7-ED92-FAFD4FE5A886}"/>
          </ac:spMkLst>
        </pc:spChg>
        <pc:spChg chg="add mod">
          <ac:chgData name="Darlyn Maithe Ludena Cedeno" userId="366861b8-d9a4-4f62-b4e0-fb344f3e3385" providerId="ADAL" clId="{6318A499-274C-4DF4-838F-23AA79B89210}" dt="2026-09-11T19:20:38.919" v="2685" actId="14100"/>
          <ac:spMkLst>
            <pc:docMk/>
            <pc:sldMk cId="3005903449" sldId="272"/>
            <ac:spMk id="23" creationId="{B914272B-44A9-83C9-856F-8DA39B5E4EB5}"/>
          </ac:spMkLst>
        </pc:spChg>
      </pc:sldChg>
      <pc:sldChg chg="addSp delSp modSp add mod">
        <pc:chgData name="Darlyn Maithe Ludena Cedeno" userId="366861b8-d9a4-4f62-b4e0-fb344f3e3385" providerId="ADAL" clId="{6318A499-274C-4DF4-838F-23AA79B89210}" dt="2026-09-11T19:50:23.609" v="3881" actId="1076"/>
        <pc:sldMkLst>
          <pc:docMk/>
          <pc:sldMk cId="1296163129" sldId="273"/>
        </pc:sldMkLst>
        <pc:spChg chg="mod">
          <ac:chgData name="Darlyn Maithe Ludena Cedeno" userId="366861b8-d9a4-4f62-b4e0-fb344f3e3385" providerId="ADAL" clId="{6318A499-274C-4DF4-838F-23AA79B89210}" dt="2026-09-11T19:22:09.557" v="2775" actId="14100"/>
          <ac:spMkLst>
            <pc:docMk/>
            <pc:sldMk cId="1296163129" sldId="273"/>
            <ac:spMk id="3" creationId="{C25C67B2-B98A-F340-2615-1C458F827656}"/>
          </ac:spMkLst>
        </pc:spChg>
        <pc:spChg chg="del">
          <ac:chgData name="Darlyn Maithe Ludena Cedeno" userId="366861b8-d9a4-4f62-b4e0-fb344f3e3385" providerId="ADAL" clId="{6318A499-274C-4DF4-838F-23AA79B89210}" dt="2026-09-11T19:23:01.951" v="2779" actId="478"/>
          <ac:spMkLst>
            <pc:docMk/>
            <pc:sldMk cId="1296163129" sldId="273"/>
            <ac:spMk id="6" creationId="{F0CA8AEA-65E4-9F07-F677-6CDE6209D959}"/>
          </ac:spMkLst>
        </pc:spChg>
        <pc:spChg chg="del">
          <ac:chgData name="Darlyn Maithe Ludena Cedeno" userId="366861b8-d9a4-4f62-b4e0-fb344f3e3385" providerId="ADAL" clId="{6318A499-274C-4DF4-838F-23AA79B89210}" dt="2026-09-11T19:23:04.807" v="2780" actId="478"/>
          <ac:spMkLst>
            <pc:docMk/>
            <pc:sldMk cId="1296163129" sldId="273"/>
            <ac:spMk id="7" creationId="{67BA0F92-40EA-57AD-5472-EF56D8364CDC}"/>
          </ac:spMkLst>
        </pc:spChg>
        <pc:spChg chg="add mod">
          <ac:chgData name="Darlyn Maithe Ludena Cedeno" userId="366861b8-d9a4-4f62-b4e0-fb344f3e3385" providerId="ADAL" clId="{6318A499-274C-4DF4-838F-23AA79B89210}" dt="2026-09-11T19:48:01.751" v="3759" actId="1076"/>
          <ac:spMkLst>
            <pc:docMk/>
            <pc:sldMk cId="1296163129" sldId="273"/>
            <ac:spMk id="8" creationId="{03F11E2A-3589-CDF1-8D91-C8BB6EB82560}"/>
          </ac:spMkLst>
        </pc:spChg>
        <pc:spChg chg="add mod">
          <ac:chgData name="Darlyn Maithe Ludena Cedeno" userId="366861b8-d9a4-4f62-b4e0-fb344f3e3385" providerId="ADAL" clId="{6318A499-274C-4DF4-838F-23AA79B89210}" dt="2026-09-11T19:48:18.969" v="3765" actId="1076"/>
          <ac:spMkLst>
            <pc:docMk/>
            <pc:sldMk cId="1296163129" sldId="273"/>
            <ac:spMk id="10" creationId="{2E5C050C-B202-CF35-31C7-19598C744A7C}"/>
          </ac:spMkLst>
        </pc:spChg>
        <pc:spChg chg="add mod">
          <ac:chgData name="Darlyn Maithe Ludena Cedeno" userId="366861b8-d9a4-4f62-b4e0-fb344f3e3385" providerId="ADAL" clId="{6318A499-274C-4DF4-838F-23AA79B89210}" dt="2026-09-11T19:48:15.825" v="3764" actId="1076"/>
          <ac:spMkLst>
            <pc:docMk/>
            <pc:sldMk cId="1296163129" sldId="273"/>
            <ac:spMk id="12" creationId="{439871B0-51D4-E708-BFE3-EFB4D764E484}"/>
          </ac:spMkLst>
        </pc:spChg>
        <pc:spChg chg="add del mod">
          <ac:chgData name="Darlyn Maithe Ludena Cedeno" userId="366861b8-d9a4-4f62-b4e0-fb344f3e3385" providerId="ADAL" clId="{6318A499-274C-4DF4-838F-23AA79B89210}" dt="2026-09-11T19:23:15.338" v="2785" actId="478"/>
          <ac:spMkLst>
            <pc:docMk/>
            <pc:sldMk cId="1296163129" sldId="273"/>
            <ac:spMk id="14" creationId="{534D05AB-49AD-60D3-3B44-DCC09E353DEB}"/>
          </ac:spMkLst>
        </pc:spChg>
        <pc:spChg chg="del mod">
          <ac:chgData name="Darlyn Maithe Ludena Cedeno" userId="366861b8-d9a4-4f62-b4e0-fb344f3e3385" providerId="ADAL" clId="{6318A499-274C-4DF4-838F-23AA79B89210}" dt="2026-09-11T19:23:00.748" v="2778" actId="478"/>
          <ac:spMkLst>
            <pc:docMk/>
            <pc:sldMk cId="1296163129" sldId="273"/>
            <ac:spMk id="16" creationId="{46272D3E-BE08-3C9E-7606-8A38A1B595E7}"/>
          </ac:spMkLst>
        </pc:spChg>
        <pc:spChg chg="add mod">
          <ac:chgData name="Darlyn Maithe Ludena Cedeno" userId="366861b8-d9a4-4f62-b4e0-fb344f3e3385" providerId="ADAL" clId="{6318A499-274C-4DF4-838F-23AA79B89210}" dt="2026-09-11T19:48:06.107" v="3761" actId="1076"/>
          <ac:spMkLst>
            <pc:docMk/>
            <pc:sldMk cId="1296163129" sldId="273"/>
            <ac:spMk id="17" creationId="{48AE3201-65C8-C0EC-86FA-6D650A4C8824}"/>
          </ac:spMkLst>
        </pc:spChg>
        <pc:spChg chg="add mod">
          <ac:chgData name="Darlyn Maithe Ludena Cedeno" userId="366861b8-d9a4-4f62-b4e0-fb344f3e3385" providerId="ADAL" clId="{6318A499-274C-4DF4-838F-23AA79B89210}" dt="2026-09-11T19:48:08.822" v="3762" actId="1076"/>
          <ac:spMkLst>
            <pc:docMk/>
            <pc:sldMk cId="1296163129" sldId="273"/>
            <ac:spMk id="19" creationId="{82169AF7-75D0-7D81-57C9-09D330BE6BA3}"/>
          </ac:spMkLst>
        </pc:spChg>
        <pc:spChg chg="add mod">
          <ac:chgData name="Darlyn Maithe Ludena Cedeno" userId="366861b8-d9a4-4f62-b4e0-fb344f3e3385" providerId="ADAL" clId="{6318A499-274C-4DF4-838F-23AA79B89210}" dt="2026-09-11T19:48:12.253" v="3763" actId="1076"/>
          <ac:spMkLst>
            <pc:docMk/>
            <pc:sldMk cId="1296163129" sldId="273"/>
            <ac:spMk id="23" creationId="{7C57B073-96C5-5C23-C39C-B13B6CCF6E62}"/>
          </ac:spMkLst>
        </pc:spChg>
        <pc:spChg chg="add mod">
          <ac:chgData name="Darlyn Maithe Ludena Cedeno" userId="366861b8-d9a4-4f62-b4e0-fb344f3e3385" providerId="ADAL" clId="{6318A499-274C-4DF4-838F-23AA79B89210}" dt="2026-09-11T19:50:23.609" v="3881" actId="1076"/>
          <ac:spMkLst>
            <pc:docMk/>
            <pc:sldMk cId="1296163129" sldId="273"/>
            <ac:spMk id="25" creationId="{98AECB8F-252D-D122-807F-18B9DCEBD0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65770"/>
            <a:ext cx="7772400" cy="17014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7917"/>
            <a:ext cx="6400800" cy="20284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100579"/>
            <a:ext cx="7772400" cy="15764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4252"/>
            <a:ext cx="7772400" cy="173632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52084"/>
            <a:ext cx="4038600" cy="52383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52084"/>
            <a:ext cx="4038600" cy="52383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6751"/>
            <a:ext cx="4040188" cy="7404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17216"/>
            <a:ext cx="4040188" cy="45732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776751"/>
            <a:ext cx="4041775" cy="7404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7216"/>
            <a:ext cx="4041775" cy="45732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16030"/>
            <a:ext cx="3008313" cy="134496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16031"/>
            <a:ext cx="5111750" cy="67744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60996"/>
            <a:ext cx="3008313" cy="54294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556250"/>
            <a:ext cx="5486400" cy="65594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09230"/>
            <a:ext cx="5486400" cy="4762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212197"/>
            <a:ext cx="5486400" cy="93155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7869"/>
            <a:ext cx="2057400" cy="6772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7869"/>
            <a:ext cx="6019800" cy="6772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17868"/>
            <a:ext cx="8229600" cy="1322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2084"/>
            <a:ext cx="8229600" cy="5238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7356887"/>
            <a:ext cx="2133600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7356887"/>
            <a:ext cx="2895600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7356887"/>
            <a:ext cx="2133600" cy="42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uperbancos.gob.ec/estadisticas/portalestudios/bancos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77" y="-46364"/>
            <a:ext cx="12191695" cy="118872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40775" y="0"/>
            <a:ext cx="2542032" cy="7937500"/>
          </a:xfrm>
          <a:prstGeom prst="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33894" y="72508"/>
            <a:ext cx="70225" cy="7325242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1627" y="264220"/>
            <a:ext cx="2087880" cy="1995457"/>
          </a:xfrm>
          <a:prstGeom prst="roundRect">
            <a:avLst/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5" y="377259"/>
            <a:ext cx="1692525" cy="1692525"/>
          </a:xfrm>
          <a:prstGeom prst="rect">
            <a:avLst/>
          </a:prstGeom>
          <a:ln/>
        </p:spPr>
      </p:pic>
      <p:sp>
        <p:nvSpPr>
          <p:cNvPr id="7" name="TextBox 6"/>
          <p:cNvSpPr txBox="1"/>
          <p:nvPr/>
        </p:nvSpPr>
        <p:spPr>
          <a:xfrm>
            <a:off x="2551225" y="1231299"/>
            <a:ext cx="4114800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PROYECTO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3143" y="1942688"/>
            <a:ext cx="6943738" cy="1754326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22F52"/>
                </a:solidFill>
                <a:latin typeface="Aptos"/>
              </a:rPr>
              <a:t>Identificación de perfiles</a:t>
            </a:r>
            <a:r>
              <a:rPr lang="es-ES" sz="2700" b="1" dirty="0">
                <a:solidFill>
                  <a:srgbClr val="122F52"/>
                </a:solidFill>
                <a:latin typeface="Aptos"/>
              </a:rPr>
              <a:t> </a:t>
            </a:r>
            <a:r>
              <a:rPr sz="2700" b="1" dirty="0">
                <a:solidFill>
                  <a:srgbClr val="122F52"/>
                </a:solidFill>
                <a:latin typeface="Aptos"/>
              </a:rPr>
              <a:t>financieros de las entidades</a:t>
            </a:r>
            <a:r>
              <a:rPr lang="es-ES" sz="2700" b="1" dirty="0">
                <a:solidFill>
                  <a:srgbClr val="122F52"/>
                </a:solidFill>
                <a:latin typeface="Aptos"/>
              </a:rPr>
              <a:t> </a:t>
            </a:r>
            <a:r>
              <a:rPr sz="2700" b="1" dirty="0">
                <a:solidFill>
                  <a:srgbClr val="122F52"/>
                </a:solidFill>
                <a:latin typeface="Aptos"/>
              </a:rPr>
              <a:t>bancarias privadas ecuatorianas</a:t>
            </a:r>
            <a:r>
              <a:rPr lang="es-ES" sz="2700" b="1" dirty="0">
                <a:solidFill>
                  <a:srgbClr val="122F52"/>
                </a:solidFill>
                <a:latin typeface="Aptos"/>
              </a:rPr>
              <a:t> y su caracterización temporal mediante PCA y Clustering.</a:t>
            </a:r>
            <a:endParaRPr sz="2700" b="1" dirty="0">
              <a:solidFill>
                <a:srgbClr val="122F52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12918" y="3968750"/>
            <a:ext cx="7355217" cy="118872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83143" y="4335162"/>
            <a:ext cx="4114800" cy="43088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dirty="0">
                <a:solidFill>
                  <a:srgbClr val="27303A"/>
                </a:solidFill>
                <a:latin typeface="Aptos"/>
              </a:rPr>
              <a:t>Darlyn Ludeña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3143" y="4847687"/>
            <a:ext cx="5486400" cy="4001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000" dirty="0">
                <a:solidFill>
                  <a:srgbClr val="6C7884"/>
                </a:solidFill>
                <a:latin typeface="Aptos"/>
              </a:rPr>
              <a:t>Maestría en Inteligencia Artificial · USFQ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3152" y="5359475"/>
            <a:ext cx="5669280" cy="4001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s-ES" sz="2000" dirty="0">
                <a:solidFill>
                  <a:srgbClr val="6C7884"/>
                </a:solidFill>
                <a:latin typeface="Aptos"/>
              </a:rPr>
              <a:t>Matemáticas y Programación IA</a:t>
            </a:r>
            <a:endParaRPr sz="2000" dirty="0">
              <a:solidFill>
                <a:srgbClr val="6C788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7292" y="5759585"/>
            <a:ext cx="1325880" cy="4572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"/>
              </a:rPr>
              <a:t>USFQ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292" y="6442304"/>
            <a:ext cx="1497528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lang="es-ES" dirty="0">
                <a:solidFill>
                  <a:srgbClr val="D2E1DF"/>
                </a:solidFill>
                <a:latin typeface="Aptos"/>
              </a:rPr>
              <a:t>12/09/</a:t>
            </a:r>
            <a:r>
              <a:rPr dirty="0">
                <a:solidFill>
                  <a:srgbClr val="D2E1D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0871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4706" y="323085"/>
            <a:ext cx="5551293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01 · </a:t>
            </a:r>
            <a:r>
              <a:rPr lang="es-EC" sz="2600" b="1" dirty="0">
                <a:solidFill>
                  <a:srgbClr val="D3A643"/>
                </a:solidFill>
                <a:latin typeface="Aptos"/>
              </a:rPr>
              <a:t>INTRODUCCIÓN Y CONTEXTO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4707" y="877684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6245" y="1391461"/>
            <a:ext cx="11112571" cy="1571391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184" y="1391461"/>
            <a:ext cx="82296" cy="1393083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67334"/>
            <a:ext cx="2834639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s-ES" sz="1500" b="1" dirty="0">
                <a:solidFill>
                  <a:srgbClr val="122F52"/>
                </a:solidFill>
                <a:latin typeface="Aptos"/>
              </a:rPr>
              <a:t>PROBLEMA</a:t>
            </a:r>
            <a:endParaRPr sz="1500" b="1" dirty="0">
              <a:solidFill>
                <a:srgbClr val="122F5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7" y="1718577"/>
            <a:ext cx="10911251" cy="1169551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lang="es-EC" sz="1400" dirty="0"/>
              <a:t>Las entidades bancarias presentan múltiples indicadores financieros que permiten evaluar dimensiones como </a:t>
            </a:r>
            <a:r>
              <a:rPr lang="es-EC" sz="1400" b="1" dirty="0"/>
              <a:t>solvencia, liquidez, rentabilidad, eficiencia y calidad de cartera</a:t>
            </a:r>
            <a:r>
              <a:rPr lang="es-EC" sz="1400" dirty="0"/>
              <a:t>. Sin embargo, el análisis simultáneo de estos indicadores dificulta identificar patrones y perfiles financieros diferenciados.</a:t>
            </a:r>
          </a:p>
          <a:p>
            <a:r>
              <a:rPr lang="es-EC" sz="1400" i="1" dirty="0">
                <a:solidFill>
                  <a:srgbClr val="27303A"/>
                </a:solidFill>
                <a:latin typeface="Aptos"/>
              </a:rPr>
              <a:t>Pregunta de investigación: </a:t>
            </a:r>
            <a:r>
              <a:rPr lang="es-EC" sz="1400" i="1" dirty="0"/>
              <a:t>¿Es posible identificar perfiles financieros homogéneos entre las entidades bancarias privadas ecuatorianas y analizar su evolución a lo largo del tiempo mediante técnicas de aprendizaje no supervisado?</a:t>
            </a:r>
            <a:endParaRPr sz="1300" i="1" dirty="0">
              <a:solidFill>
                <a:srgbClr val="27303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6245" y="3082808"/>
            <a:ext cx="11125472" cy="1527462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sz="1400" dirty="0">
              <a:solidFill>
                <a:schemeClr val="tx1"/>
              </a:solidFill>
            </a:endParaRPr>
          </a:p>
          <a:p>
            <a:r>
              <a:rPr lang="es-EC" sz="1400" dirty="0">
                <a:solidFill>
                  <a:schemeClr val="tx1"/>
                </a:solidFill>
              </a:rPr>
              <a:t>Identificar y caracterizar perfiles financieros de las entidades bancarias privadas del Ecuador mediante el análisis de indicadores financieros y los balances contables publicados por la Superintendencia de Bancos, utilizando técnicas de reducción de dimensionalidad (PCA) y aprendizaje no supervisado (Clustering), con el propósito de analizar la evolución temporal de dichos perfiles y determinar si las entidades mantienen o modifican sus características financieras.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2411" y="2962851"/>
            <a:ext cx="82296" cy="1647418"/>
          </a:xfrm>
          <a:prstGeom prst="rect">
            <a:avLst/>
          </a:prstGeom>
          <a:solidFill>
            <a:srgbClr val="5B9BD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129947"/>
            <a:ext cx="2834639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s-ES" sz="1500" b="1" dirty="0">
                <a:solidFill>
                  <a:srgbClr val="122F52"/>
                </a:solidFill>
                <a:latin typeface="Aptos"/>
              </a:rPr>
              <a:t>OBJETIVOS</a:t>
            </a:r>
            <a:endParaRPr sz="1500" b="1" dirty="0">
              <a:solidFill>
                <a:srgbClr val="122F5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3840" y="7341118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 dirty="0">
                <a:solidFill>
                  <a:srgbClr val="6C7884"/>
                </a:solidFill>
                <a:latin typeface="Aptos"/>
              </a:rPr>
              <a:t>MSDS 6014  ·  </a:t>
            </a:r>
            <a:r>
              <a:rPr sz="800" dirty="0" err="1">
                <a:solidFill>
                  <a:srgbClr val="6C7884"/>
                </a:solidFill>
                <a:latin typeface="Aptos"/>
              </a:rPr>
              <a:t>Matemáticas</a:t>
            </a:r>
            <a:r>
              <a:rPr sz="800" dirty="0">
                <a:solidFill>
                  <a:srgbClr val="6C7884"/>
                </a:solidFill>
                <a:latin typeface="Aptos"/>
              </a:rPr>
              <a:t> y </a:t>
            </a:r>
            <a:r>
              <a:rPr sz="800" dirty="0" err="1">
                <a:solidFill>
                  <a:srgbClr val="6C7884"/>
                </a:solidFill>
                <a:latin typeface="Aptos"/>
              </a:rPr>
              <a:t>Programación</a:t>
            </a:r>
            <a:r>
              <a:rPr sz="800" dirty="0">
                <a:solidFill>
                  <a:srgbClr val="6C7884"/>
                </a:solidFill>
                <a:latin typeface="Aptos"/>
              </a:rPr>
              <a:t>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4260" y="733727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 dirty="0">
                <a:solidFill>
                  <a:srgbClr val="6C7884"/>
                </a:solidFill>
                <a:latin typeface="Aptos"/>
              </a:rPr>
              <a:t>02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49A0DC79-356B-BF4E-2EE0-51B06BCD1A17}"/>
              </a:ext>
            </a:extLst>
          </p:cNvPr>
          <p:cNvSpPr/>
          <p:nvPr/>
        </p:nvSpPr>
        <p:spPr>
          <a:xfrm flipH="1">
            <a:off x="437723" y="4767463"/>
            <a:ext cx="82297" cy="1746622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72B52038-93D3-14DE-DBDA-DD56AA15B3CC}"/>
              </a:ext>
            </a:extLst>
          </p:cNvPr>
          <p:cNvSpPr/>
          <p:nvPr/>
        </p:nvSpPr>
        <p:spPr>
          <a:xfrm>
            <a:off x="649146" y="4855079"/>
            <a:ext cx="11112571" cy="1571391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sz="1400" dirty="0">
              <a:solidFill>
                <a:schemeClr val="tx1"/>
              </a:solidFill>
            </a:endParaRPr>
          </a:p>
          <a:p>
            <a:endParaRPr lang="es-EC" sz="1400" dirty="0">
              <a:solidFill>
                <a:schemeClr val="tx1"/>
              </a:solidFill>
            </a:endParaRPr>
          </a:p>
          <a:p>
            <a:r>
              <a:rPr lang="es-EC" sz="1400" b="1" dirty="0">
                <a:solidFill>
                  <a:schemeClr val="tx1"/>
                </a:solidFill>
              </a:rPr>
              <a:t>FUENTE: </a:t>
            </a:r>
            <a:r>
              <a:rPr lang="es-EC" sz="1400" dirty="0">
                <a:solidFill>
                  <a:schemeClr val="tx1"/>
                </a:solidFill>
              </a:rPr>
              <a:t> Superintendencia de Bancos del Ecuador, Boletines Financieros Mensuales. (</a:t>
            </a:r>
            <a:r>
              <a:rPr lang="es-EC" sz="1200" dirty="0">
                <a:solidFill>
                  <a:schemeClr val="tx1"/>
                </a:solidFill>
                <a:hlinkClick r:id="rId2"/>
              </a:rPr>
              <a:t>https://www.superbancos.gob.ec/estadisticas/portalestudios/bancos/  </a:t>
            </a:r>
            <a:r>
              <a:rPr lang="es-EC" sz="1400" dirty="0">
                <a:solidFill>
                  <a:schemeClr val="tx1"/>
                </a:solidFill>
              </a:rPr>
              <a:t>)</a:t>
            </a:r>
          </a:p>
          <a:p>
            <a:r>
              <a:rPr lang="es-EC" sz="1400" b="1" dirty="0">
                <a:solidFill>
                  <a:schemeClr val="tx1"/>
                </a:solidFill>
              </a:rPr>
              <a:t>HOMOLOGACIÓN:  </a:t>
            </a:r>
            <a:r>
              <a:rPr lang="es-EC" sz="1400" dirty="0">
                <a:solidFill>
                  <a:schemeClr val="tx1"/>
                </a:solidFill>
              </a:rPr>
              <a:t>Establecido por el ente de control desde el 1 de Mayo 2021 —&gt; Información comparable en el tiempo.</a:t>
            </a:r>
          </a:p>
          <a:p>
            <a:r>
              <a:rPr lang="es-EC" sz="1400" b="1" dirty="0">
                <a:solidFill>
                  <a:schemeClr val="tx1"/>
                </a:solidFill>
              </a:rPr>
              <a:t>DATASET ANALÍTICO: </a:t>
            </a:r>
            <a:r>
              <a:rPr lang="es-EC" sz="1400" dirty="0">
                <a:solidFill>
                  <a:schemeClr val="tx1"/>
                </a:solidFill>
              </a:rPr>
              <a:t>Mayo 2022 – Julio 2026  —&gt; Restricción por incorporación de variaciones interanuales.</a:t>
            </a:r>
          </a:p>
          <a:p>
            <a:pPr algn="ctr"/>
            <a:endParaRPr dirty="0"/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93EDC23B-71FF-B262-25EC-74EDAB78EB8F}"/>
              </a:ext>
            </a:extLst>
          </p:cNvPr>
          <p:cNvSpPr txBox="1"/>
          <p:nvPr/>
        </p:nvSpPr>
        <p:spPr>
          <a:xfrm>
            <a:off x="749807" y="4939738"/>
            <a:ext cx="3753367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s-ES" sz="1500" b="1" dirty="0">
                <a:solidFill>
                  <a:srgbClr val="122F52"/>
                </a:solidFill>
                <a:latin typeface="Aptos"/>
              </a:rPr>
              <a:t>HORIZONTE DEL PROYECTO Y FUENTES</a:t>
            </a:r>
            <a:endParaRPr sz="1500" b="1" dirty="0">
              <a:solidFill>
                <a:srgbClr val="122F5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0F46E-D53A-4508-FA62-8DA512B2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CB49FF-E389-9B51-4DC0-ABA6DCD537D2}"/>
              </a:ext>
            </a:extLst>
          </p:cNvPr>
          <p:cNvSpPr/>
          <p:nvPr/>
        </p:nvSpPr>
        <p:spPr>
          <a:xfrm>
            <a:off x="305" y="20871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84153-6FE3-6C85-5C2D-E7D6285DD3B7}"/>
              </a:ext>
            </a:extLst>
          </p:cNvPr>
          <p:cNvSpPr txBox="1"/>
          <p:nvPr/>
        </p:nvSpPr>
        <p:spPr>
          <a:xfrm>
            <a:off x="544706" y="323085"/>
            <a:ext cx="5893671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</a:t>
            </a:r>
            <a:r>
              <a:rPr lang="es-EC" sz="2600" b="1" dirty="0">
                <a:solidFill>
                  <a:srgbClr val="D3A643"/>
                </a:solidFill>
                <a:latin typeface="Aptos"/>
              </a:rPr>
              <a:t>2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 </a:t>
            </a:r>
            <a:r>
              <a:rPr lang="es-EC" sz="2600" b="1" dirty="0">
                <a:solidFill>
                  <a:srgbClr val="D3A643"/>
                </a:solidFill>
                <a:latin typeface="Aptos"/>
              </a:rPr>
              <a:t>ALCANCE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DFA69-0D8D-B585-A8CA-73038F83AB43}"/>
              </a:ext>
            </a:extLst>
          </p:cNvPr>
          <p:cNvSpPr/>
          <p:nvPr/>
        </p:nvSpPr>
        <p:spPr>
          <a:xfrm>
            <a:off x="544707" y="877684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CE99EA-9B4C-468D-CCAB-51CAC10E64E3}"/>
              </a:ext>
            </a:extLst>
          </p:cNvPr>
          <p:cNvSpPr txBox="1"/>
          <p:nvPr/>
        </p:nvSpPr>
        <p:spPr>
          <a:xfrm>
            <a:off x="243840" y="7341118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 dirty="0">
                <a:solidFill>
                  <a:srgbClr val="6C7884"/>
                </a:solidFill>
                <a:latin typeface="Aptos"/>
              </a:rPr>
              <a:t>MSDS 6014  ·  </a:t>
            </a:r>
            <a:r>
              <a:rPr sz="800" dirty="0" err="1">
                <a:solidFill>
                  <a:srgbClr val="6C7884"/>
                </a:solidFill>
                <a:latin typeface="Aptos"/>
              </a:rPr>
              <a:t>Matemáticas</a:t>
            </a:r>
            <a:r>
              <a:rPr sz="800" dirty="0">
                <a:solidFill>
                  <a:srgbClr val="6C7884"/>
                </a:solidFill>
                <a:latin typeface="Aptos"/>
              </a:rPr>
              <a:t> y </a:t>
            </a:r>
            <a:r>
              <a:rPr sz="800" dirty="0" err="1">
                <a:solidFill>
                  <a:srgbClr val="6C7884"/>
                </a:solidFill>
                <a:latin typeface="Aptos"/>
              </a:rPr>
              <a:t>Programación</a:t>
            </a:r>
            <a:r>
              <a:rPr sz="800" dirty="0">
                <a:solidFill>
                  <a:srgbClr val="6C7884"/>
                </a:solidFill>
                <a:latin typeface="Aptos"/>
              </a:rPr>
              <a:t> 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A946EB-85F9-AA96-1A9C-C5DDC365F26E}"/>
              </a:ext>
            </a:extLst>
          </p:cNvPr>
          <p:cNvSpPr txBox="1"/>
          <p:nvPr/>
        </p:nvSpPr>
        <p:spPr>
          <a:xfrm>
            <a:off x="11224260" y="733727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 dirty="0">
                <a:solidFill>
                  <a:srgbClr val="6C788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DA9696-3C2B-A4CE-40DB-8D7F7B32D5A6}"/>
              </a:ext>
            </a:extLst>
          </p:cNvPr>
          <p:cNvSpPr/>
          <p:nvPr/>
        </p:nvSpPr>
        <p:spPr>
          <a:xfrm>
            <a:off x="404105" y="1067236"/>
            <a:ext cx="6612580" cy="1638659"/>
          </a:xfrm>
          <a:prstGeom prst="round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s-EC" b="1" dirty="0"/>
              <a:t>PREPROCESAMIENTO:  </a:t>
            </a:r>
            <a:r>
              <a:rPr lang="es-EC" dirty="0"/>
              <a:t>-&gt;Integración de boletines financieros. </a:t>
            </a:r>
          </a:p>
          <a:p>
            <a:pPr lvl="0"/>
            <a:r>
              <a:rPr lang="es-EC" dirty="0"/>
              <a:t>-&gt;Homogeneización de entidades y variables. -&gt;Tratamiento de faltantes, duplicados y formatos. -&gt;Feature engineering:  variables de cartera y variaciones interanuales.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5B3B5EE3-AC93-43CA-121D-31E35C4A6270}"/>
              </a:ext>
            </a:extLst>
          </p:cNvPr>
          <p:cNvSpPr/>
          <p:nvPr/>
        </p:nvSpPr>
        <p:spPr>
          <a:xfrm>
            <a:off x="404105" y="2831513"/>
            <a:ext cx="6612580" cy="1334116"/>
          </a:xfrm>
          <a:prstGeom prst="roundRect">
            <a:avLst/>
          </a:prstGeom>
          <a:solidFill>
            <a:srgbClr val="5B9BD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dirty="0"/>
              <a:t>2. EDA:  → Análisis de indicadores según desempeño. → Análisis de cartera. → Variaciones interanuales. → Series temporales, heatmaps y diagramas de caja. → Detección de atípicos mediante IQR. → Correlaciones y eliminación de redundancias. </a:t>
            </a:r>
            <a:endParaRPr dirty="0"/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7BD728BB-AB5D-4FCD-1F87-2F58D401E4ED}"/>
              </a:ext>
            </a:extLst>
          </p:cNvPr>
          <p:cNvSpPr/>
          <p:nvPr/>
        </p:nvSpPr>
        <p:spPr>
          <a:xfrm>
            <a:off x="404105" y="4429147"/>
            <a:ext cx="6612580" cy="1188720"/>
          </a:xfrm>
          <a:prstGeom prst="round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b="1" dirty="0"/>
              <a:t>3. PCA: </a:t>
            </a:r>
            <a:r>
              <a:rPr lang="es-EC" dirty="0"/>
              <a:t>-&gt; Estandarización de indicadores-&gt; Descomposición SVD-&gt; Obtención de Componentes Principales-&gt; Análisis de varianza explicada -&gt;Reducción de dimensionalidad</a:t>
            </a:r>
            <a:endParaRPr dirty="0"/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79EF4254-AA1E-E651-848F-4E911C34D45D}"/>
              </a:ext>
            </a:extLst>
          </p:cNvPr>
          <p:cNvSpPr/>
          <p:nvPr/>
        </p:nvSpPr>
        <p:spPr>
          <a:xfrm>
            <a:off x="404105" y="5871096"/>
            <a:ext cx="6612580" cy="1329804"/>
          </a:xfrm>
          <a:prstGeom prst="round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b="1" dirty="0"/>
              <a:t>4. CLUSTERING: -&gt; K-Means sobre PC11 y PC15 y evaluación del mejor K por medio de métricas (</a:t>
            </a:r>
            <a:r>
              <a:rPr lang="es-EC" dirty="0"/>
              <a:t>Silhouette, Davies-Bouldin y Calinski-Harabasz.) y la estabilidad mediante ARI -&gt; Caracterización con los indicadores originales.</a:t>
            </a:r>
            <a:endParaRPr lang="es-EC" b="1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8F7FEFA-175F-981B-390F-26E53FB0027E}"/>
              </a:ext>
            </a:extLst>
          </p:cNvPr>
          <p:cNvSpPr/>
          <p:nvPr/>
        </p:nvSpPr>
        <p:spPr>
          <a:xfrm>
            <a:off x="7632746" y="2857335"/>
            <a:ext cx="4155149" cy="24155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💡</a:t>
            </a:r>
            <a:r>
              <a:rPr lang="es-EC" b="1" dirty="0">
                <a:solidFill>
                  <a:schemeClr val="tx1"/>
                </a:solidFill>
              </a:rPr>
              <a:t>Alcance: </a:t>
            </a:r>
            <a:r>
              <a:rPr lang="es-EC" dirty="0">
                <a:solidFill>
                  <a:schemeClr val="tx1"/>
                </a:solidFill>
              </a:rPr>
              <a:t>Implementación inicial en una ventana temporal homogénea y ampliación progresiva una vez verificada la estabilidad del pipeline , se tomó los datos homogeneizados y establecidos por la Superintendencia de Bancos , desde Mayo 2021 a Julio 2026.</a:t>
            </a:r>
          </a:p>
        </p:txBody>
      </p:sp>
    </p:spTree>
    <p:extLst>
      <p:ext uri="{BB962C8B-B14F-4D97-AF65-F5344CB8AC3E}">
        <p14:creationId xmlns:p14="http://schemas.microsoft.com/office/powerpoint/2010/main" val="264687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B06D8-7E20-AE5E-8BF3-2AB06EBB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0C811B-EDE0-5E7F-A312-B72F36929167}"/>
              </a:ext>
            </a:extLst>
          </p:cNvPr>
          <p:cNvSpPr/>
          <p:nvPr/>
        </p:nvSpPr>
        <p:spPr>
          <a:xfrm>
            <a:off x="305" y="-41148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5E0DF-C10D-D942-4CE8-D0D042B81BCD}"/>
              </a:ext>
            </a:extLst>
          </p:cNvPr>
          <p:cNvSpPr txBox="1"/>
          <p:nvPr/>
        </p:nvSpPr>
        <p:spPr>
          <a:xfrm>
            <a:off x="260601" y="48312"/>
            <a:ext cx="5246001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2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DATOS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6BE8E4-4CC7-A14E-02FD-75BB09483CC6}"/>
              </a:ext>
            </a:extLst>
          </p:cNvPr>
          <p:cNvSpPr/>
          <p:nvPr/>
        </p:nvSpPr>
        <p:spPr>
          <a:xfrm>
            <a:off x="377559" y="550455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1235AB-519F-61B3-2B0F-BA98A1E5D339}"/>
              </a:ext>
            </a:extLst>
          </p:cNvPr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AF2B7D-1C2E-626C-6C44-1A876137E8C8}"/>
              </a:ext>
            </a:extLst>
          </p:cNvPr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02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EE05AF8-BF29-09B5-CC83-19C437331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20253"/>
              </p:ext>
            </p:extLst>
          </p:nvPr>
        </p:nvGraphicFramePr>
        <p:xfrm>
          <a:off x="165514" y="702171"/>
          <a:ext cx="11860972" cy="6795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1729">
                  <a:extLst>
                    <a:ext uri="{9D8B030D-6E8A-4147-A177-3AD203B41FA5}">
                      <a16:colId xmlns:a16="http://schemas.microsoft.com/office/drawing/2014/main" val="3123229370"/>
                    </a:ext>
                  </a:extLst>
                </a:gridCol>
                <a:gridCol w="1280035">
                  <a:extLst>
                    <a:ext uri="{9D8B030D-6E8A-4147-A177-3AD203B41FA5}">
                      <a16:colId xmlns:a16="http://schemas.microsoft.com/office/drawing/2014/main" val="3530609082"/>
                    </a:ext>
                  </a:extLst>
                </a:gridCol>
                <a:gridCol w="6839208">
                  <a:extLst>
                    <a:ext uri="{9D8B030D-6E8A-4147-A177-3AD203B41FA5}">
                      <a16:colId xmlns:a16="http://schemas.microsoft.com/office/drawing/2014/main" val="691044971"/>
                    </a:ext>
                  </a:extLst>
                </a:gridCol>
              </a:tblGrid>
              <a:tr h="509941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Indicador</a:t>
                      </a:r>
                      <a:endParaRPr lang="es-EC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Sentido favorable</a:t>
                      </a:r>
                      <a:endParaRPr lang="es-EC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Significado</a:t>
                      </a:r>
                      <a:endParaRPr lang="es-EC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76496"/>
                  </a:ext>
                </a:extLst>
              </a:tr>
              <a:tr h="341587">
                <a:tc>
                  <a:txBody>
                    <a:bodyPr/>
                    <a:lstStyle/>
                    <a:p>
                      <a:r>
                        <a:rPr lang="es-ES" sz="1400" dirty="0"/>
                        <a:t>Suficiencia patrimonial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         ⬆</a:t>
                      </a:r>
                      <a:r>
                        <a:rPr lang="es-EC" sz="1800" b="1" dirty="0">
                          <a:solidFill>
                            <a:schemeClr val="tx2"/>
                          </a:solidFill>
                        </a:rPr>
                        <a:t>    </a:t>
                      </a:r>
                      <a:r>
                        <a:rPr lang="es-ES" sz="1200" dirty="0"/>
                        <a:t>&gt;9%</a:t>
                      </a:r>
                      <a:endParaRPr lang="es-EC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Mide la capacidad del patrimonio para respaldar los activos ponderados por riesgo</a:t>
                      </a:r>
                      <a:endParaRPr lang="es-EC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148826"/>
                  </a:ext>
                </a:extLst>
              </a:tr>
              <a:tr h="397040">
                <a:tc>
                  <a:txBody>
                    <a:bodyPr/>
                    <a:lstStyle/>
                    <a:p>
                      <a:r>
                        <a:rPr lang="es-ES" sz="1400" dirty="0"/>
                        <a:t>Índice de capitalización neto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          </a:t>
                      </a: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 </a:t>
                      </a:r>
                      <a:r>
                        <a:rPr lang="es-EC" sz="1400" dirty="0">
                          <a:solidFill>
                            <a:schemeClr val="tx2"/>
                          </a:solidFill>
                        </a:rPr>
                        <a:t>  </a:t>
                      </a:r>
                      <a:r>
                        <a:rPr lang="es-ES" sz="1200" dirty="0"/>
                        <a:t>&gt;=4%</a:t>
                      </a:r>
                      <a:endParaRPr lang="es-EC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s-EC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Mide el nivel de capital propio disponible para respaldar los activos y los riesgos asumidos por la entidad.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486800"/>
                  </a:ext>
                </a:extLst>
              </a:tr>
              <a:tr h="426984">
                <a:tc>
                  <a:txBody>
                    <a:bodyPr/>
                    <a:lstStyle/>
                    <a:p>
                      <a:r>
                        <a:rPr lang="es-ES" sz="1400" dirty="0"/>
                        <a:t>Activos improductivos netos/ Total de activos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r>
                        <a:rPr lang="es-ES" dirty="0"/>
                        <a:t>       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s-EC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Mide la proporción de activos que no generan ingresos financieros, netos de sus provisiones, respecto al total de activos.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105048"/>
                  </a:ext>
                </a:extLst>
              </a:tr>
              <a:tr h="341587">
                <a:tc>
                  <a:txBody>
                    <a:bodyPr/>
                    <a:lstStyle/>
                    <a:p>
                      <a:r>
                        <a:rPr lang="es-ES" sz="1400" dirty="0"/>
                        <a:t>Activos productivos/ Total de activos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18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s-EC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Mide la proporción de los activos que generan ingresos financieros respecto al total de activos.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742478"/>
                  </a:ext>
                </a:extLst>
              </a:tr>
              <a:tr h="3970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Activos productivos/Pasivos con costo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18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s-EC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Mide la capacidad de los activos productivos para respaldar los pasivos que generan costos financieros.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674396"/>
                  </a:ext>
                </a:extLst>
              </a:tr>
              <a:tr h="483915">
                <a:tc>
                  <a:txBody>
                    <a:bodyPr/>
                    <a:lstStyle/>
                    <a:p>
                      <a:r>
                        <a:rPr lang="es-ES" sz="1400" dirty="0"/>
                        <a:t>Morosidad de la cartera total, créditos de consumo, microcrédito e inmobiliarios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r>
                        <a:rPr lang="es-ES" dirty="0"/>
                        <a:t>       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la proporción de la cartera que presenta incumplimiento de pago respecto a la cartera correspondiente.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373896"/>
                  </a:ext>
                </a:extLst>
              </a:tr>
              <a:tr h="483915">
                <a:tc>
                  <a:txBody>
                    <a:bodyPr/>
                    <a:lstStyle/>
                    <a:p>
                      <a:r>
                        <a:rPr lang="es-ES" sz="1400" dirty="0"/>
                        <a:t>Coberturas (cartera problemática, refinanciada y reestructurada)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18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C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Miden la capacidad de las provisiones para cubrir las carteras que presentan mayor riesgo o han requerido modificaciones en sus condiciones de pago.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70124"/>
                  </a:ext>
                </a:extLst>
              </a:tr>
              <a:tr h="483915">
                <a:tc>
                  <a:txBody>
                    <a:bodyPr/>
                    <a:lstStyle/>
                    <a:p>
                      <a:r>
                        <a:rPr lang="es-ES" sz="1400" dirty="0"/>
                        <a:t>Gastos de operación estimados / Total del activo promedio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 </a:t>
                      </a:r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r>
                        <a:rPr lang="es-ES" dirty="0"/>
                        <a:t>       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el peso de los gastos operativos respecto al nivel promedio de activos administrados.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01426"/>
                  </a:ext>
                </a:extLst>
              </a:tr>
              <a:tr h="341587">
                <a:tc>
                  <a:txBody>
                    <a:bodyPr/>
                    <a:lstStyle/>
                    <a:p>
                      <a:r>
                        <a:rPr lang="es-ES" sz="1400" dirty="0"/>
                        <a:t>Gastos de operación/Margen financiero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 </a:t>
                      </a:r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r>
                        <a:rPr lang="es-ES" dirty="0"/>
                        <a:t>       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qué proporción del margen financiero es absorbida por los gastos de operación.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623534"/>
                  </a:ext>
                </a:extLst>
              </a:tr>
              <a:tr h="48391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Gastos del personal estimados / Activo promedio 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 </a:t>
                      </a:r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r>
                        <a:rPr lang="es-ES" dirty="0"/>
                        <a:t>       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el peso de los gastos de personal respecto al nivel promedio de activos administrados.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827403"/>
                  </a:ext>
                </a:extLst>
              </a:tr>
              <a:tr h="426984">
                <a:tc>
                  <a:txBody>
                    <a:bodyPr/>
                    <a:lstStyle/>
                    <a:p>
                      <a:r>
                        <a:rPr lang="es-ES" sz="1400" dirty="0"/>
                        <a:t>ROE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18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la rentabilidad obtenida por la entidad sobre los recursos aportados por sus accionistas o patrimonio.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492180"/>
                  </a:ext>
                </a:extLst>
              </a:tr>
              <a:tr h="341587">
                <a:tc>
                  <a:txBody>
                    <a:bodyPr/>
                    <a:lstStyle/>
                    <a:p>
                      <a:r>
                        <a:rPr lang="es-ES" sz="1400" dirty="0"/>
                        <a:t>ROA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18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la rentabilidad generada por la entidad en relación con el total de activos.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75514"/>
                  </a:ext>
                </a:extLst>
              </a:tr>
              <a:tr h="48391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Cartera bruta / (Depósitos a la vista + Depósitos a plazo)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18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el nivel de intermediación financiera, relacionando los recursos captados mediante depósitos con los créditos colocados.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800733"/>
                  </a:ext>
                </a:extLst>
              </a:tr>
              <a:tr h="483915">
                <a:tc>
                  <a:txBody>
                    <a:bodyPr/>
                    <a:lstStyle/>
                    <a:p>
                      <a:r>
                        <a:rPr lang="es-ES" sz="1400" dirty="0"/>
                        <a:t>Fondos disponibles / Total depósitos  a corto plazo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18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200" dirty="0"/>
                        <a:t>Mide la capacidad de la entidad para hacer frente a sus obligaciones de corto plazo utilizando recursos líquidos disponibles.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45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93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9D7EE-6250-01AD-6C59-088EA73A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73A304-14A2-BBA1-581F-731AD2A929AF}"/>
              </a:ext>
            </a:extLst>
          </p:cNvPr>
          <p:cNvSpPr/>
          <p:nvPr/>
        </p:nvSpPr>
        <p:spPr>
          <a:xfrm>
            <a:off x="305" y="-41148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CD0FF-DBC6-B5F0-FA8E-4959F496D9EA}"/>
              </a:ext>
            </a:extLst>
          </p:cNvPr>
          <p:cNvSpPr txBox="1"/>
          <p:nvPr/>
        </p:nvSpPr>
        <p:spPr>
          <a:xfrm>
            <a:off x="377559" y="187917"/>
            <a:ext cx="5246001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2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DATOS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3329B-E184-D08C-B1B2-06D6171AEB71}"/>
              </a:ext>
            </a:extLst>
          </p:cNvPr>
          <p:cNvSpPr/>
          <p:nvPr/>
        </p:nvSpPr>
        <p:spPr>
          <a:xfrm>
            <a:off x="377559" y="711449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DBAB9D-C68B-0F16-C733-18D3A92FE70A}"/>
              </a:ext>
            </a:extLst>
          </p:cNvPr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CB827-C45B-118B-7200-E2D658EE2B2F}"/>
              </a:ext>
            </a:extLst>
          </p:cNvPr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02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EC3EEE4-CD80-0E78-3F6B-5A2299448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00903"/>
              </p:ext>
            </p:extLst>
          </p:nvPr>
        </p:nvGraphicFramePr>
        <p:xfrm>
          <a:off x="327553" y="1106186"/>
          <a:ext cx="11536893" cy="638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0965">
                  <a:extLst>
                    <a:ext uri="{9D8B030D-6E8A-4147-A177-3AD203B41FA5}">
                      <a16:colId xmlns:a16="http://schemas.microsoft.com/office/drawing/2014/main" val="3123229370"/>
                    </a:ext>
                  </a:extLst>
                </a:gridCol>
                <a:gridCol w="2087468">
                  <a:extLst>
                    <a:ext uri="{9D8B030D-6E8A-4147-A177-3AD203B41FA5}">
                      <a16:colId xmlns:a16="http://schemas.microsoft.com/office/drawing/2014/main" val="3530609082"/>
                    </a:ext>
                  </a:extLst>
                </a:gridCol>
                <a:gridCol w="5508460">
                  <a:extLst>
                    <a:ext uri="{9D8B030D-6E8A-4147-A177-3AD203B41FA5}">
                      <a16:colId xmlns:a16="http://schemas.microsoft.com/office/drawing/2014/main" val="691044971"/>
                    </a:ext>
                  </a:extLst>
                </a:gridCol>
              </a:tblGrid>
              <a:tr h="309306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Indicador</a:t>
                      </a:r>
                      <a:endParaRPr lang="es-EC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Sentido favorable</a:t>
                      </a:r>
                      <a:endParaRPr lang="es-EC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Significado</a:t>
                      </a:r>
                      <a:endParaRPr lang="es-EC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776496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r>
                        <a:rPr lang="es-ES" sz="1400" dirty="0"/>
                        <a:t>Cartera improductiva/ Cartera Bruta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r>
                        <a:rPr lang="es-ES" b="1" dirty="0"/>
                        <a:t>          </a:t>
                      </a:r>
                      <a:endParaRPr lang="es-EC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/>
                        <a:t>Proporción de la cartera que no genera ingresos financieros respecto a la cartera total.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148826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r>
                        <a:rPr lang="es-ES" sz="1400" dirty="0"/>
                        <a:t>Cartera Vencida / Cartera Bruta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    </a:t>
                      </a:r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r>
                        <a:rPr lang="es-ES" dirty="0"/>
                        <a:t>       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C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Proporción de créditos cuyo plazo de pago ha vencido respecto a la cartera total.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486800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r>
                        <a:rPr lang="es-ES" sz="1400" dirty="0"/>
                        <a:t>Cartera que no devenga intereses/ Cartera Bruta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C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Proporción de créditos que han dejado de generar intereses respecto a la cartera total.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105048"/>
                  </a:ext>
                </a:extLst>
              </a:tr>
              <a:tr h="397258">
                <a:tc>
                  <a:txBody>
                    <a:bodyPr/>
                    <a:lstStyle/>
                    <a:p>
                      <a:r>
                        <a:rPr lang="es-ES" sz="1400" dirty="0"/>
                        <a:t>Cartera refinanciada / Cartera Bruta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s-EC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Proporción de la cartera que ha requerido una modificación de sus condiciones de pago por dificultades del deudor.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742478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Cartera reestructurada / Cartera Bruta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>
                          <a:solidFill>
                            <a:srgbClr val="FF0000"/>
                          </a:solidFill>
                        </a:rPr>
                        <a:t>⬇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s-E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Proporción de la cartera cuyas condiciones de pago han sido modificadas para facilitar su recuperación.</a:t>
                      </a:r>
                      <a:endParaRPr lang="es-EC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674396"/>
                  </a:ext>
                </a:extLst>
              </a:tr>
              <a:tr h="317778">
                <a:tc>
                  <a:txBody>
                    <a:bodyPr/>
                    <a:lstStyle/>
                    <a:p>
                      <a:r>
                        <a:rPr lang="es-ES" sz="1400" dirty="0"/>
                        <a:t>Variación interanual de activos totales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22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2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s-EC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Crecimiento de los activos totales respecto al mismo período del año anterior.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373896"/>
                  </a:ext>
                </a:extLst>
              </a:tr>
              <a:tr h="438184">
                <a:tc>
                  <a:txBody>
                    <a:bodyPr/>
                    <a:lstStyle/>
                    <a:p>
                      <a:r>
                        <a:rPr lang="es-ES" sz="1400" dirty="0"/>
                        <a:t>Variación interanual de la cartera de créditos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22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2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s-EC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Crecimiento de la cartera de créditos respecto al mismo período del año anterior.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70124"/>
                  </a:ext>
                </a:extLst>
              </a:tr>
              <a:tr h="438184">
                <a:tc>
                  <a:txBody>
                    <a:bodyPr/>
                    <a:lstStyle/>
                    <a:p>
                      <a:r>
                        <a:rPr lang="es-ES" sz="1400" dirty="0"/>
                        <a:t>Variación interanual de los depósitos a la vista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22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2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/>
                        <a:t>Crecimiento de los depósitos exigibles a la vista respecto al año anterior </a:t>
                      </a:r>
                      <a:endParaRPr lang="es-EC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701426"/>
                  </a:ext>
                </a:extLst>
              </a:tr>
              <a:tr h="350107">
                <a:tc>
                  <a:txBody>
                    <a:bodyPr/>
                    <a:lstStyle/>
                    <a:p>
                      <a:r>
                        <a:rPr lang="es-ES" sz="1400" dirty="0"/>
                        <a:t>Variación interanual de los depósitos a plazo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22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2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/>
                        <a:t>Crecimiento de los depósitos mantenidos a plazo respecto al año anterior.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623534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Variación interanual del patrimonio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22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2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/>
                        <a:t>Crecimiento de los recursos propios de la entidad respecto al año anterior </a:t>
                      </a:r>
                      <a:endParaRPr lang="es-EC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827403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r>
                        <a:rPr lang="es-ES" sz="1400" dirty="0"/>
                        <a:t>Variación interanual de los fondos disponibles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22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2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/>
                        <a:t>Crecimiento de los recursos líquidos y de disponibilidad inmediata respecto al año anterior.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492180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r>
                        <a:rPr lang="es-ES" sz="1400" dirty="0"/>
                        <a:t>Variación interanual de las inversiones</a:t>
                      </a:r>
                      <a:endParaRPr lang="es-EC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2200" dirty="0">
                          <a:solidFill>
                            <a:schemeClr val="tx2"/>
                          </a:solidFill>
                        </a:rPr>
                        <a:t>⬆</a:t>
                      </a:r>
                      <a:endParaRPr lang="es-EC" sz="22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400" dirty="0"/>
                        <a:t>Crecimiento de las inversiones financieras respecto al año anterior.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75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79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8856A-797E-29F9-E4BF-091E90AB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52F862-1EEC-A780-9361-D08572484A62}"/>
              </a:ext>
            </a:extLst>
          </p:cNvPr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A31DD-89ED-C49E-F29C-78AE41E27F00}"/>
              </a:ext>
            </a:extLst>
          </p:cNvPr>
          <p:cNvSpPr txBox="1"/>
          <p:nvPr/>
        </p:nvSpPr>
        <p:spPr>
          <a:xfrm>
            <a:off x="594359" y="613573"/>
            <a:ext cx="9088483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3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 PREPROCESAMIENTO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</a:t>
            </a:r>
            <a:r>
              <a:rPr lang="es-EC" sz="2600" b="1" dirty="0">
                <a:solidFill>
                  <a:srgbClr val="D3A643"/>
                </a:solidFill>
                <a:latin typeface="Aptos"/>
              </a:rPr>
              <a:t>: INTEGRACIÓN Y ESTRUCTURA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7DA334-ADA0-E801-6224-860898392E2D}"/>
              </a:ext>
            </a:extLst>
          </p:cNvPr>
          <p:cNvSpPr/>
          <p:nvPr/>
        </p:nvSpPr>
        <p:spPr>
          <a:xfrm>
            <a:off x="544707" y="1151929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F907B7-1C4A-121B-67F4-EB49EECAC1C5}"/>
              </a:ext>
            </a:extLst>
          </p:cNvPr>
          <p:cNvSpPr txBox="1"/>
          <p:nvPr/>
        </p:nvSpPr>
        <p:spPr>
          <a:xfrm>
            <a:off x="544707" y="7397750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83BA80-001B-3D5B-801D-D05B2484A468}"/>
              </a:ext>
            </a:extLst>
          </p:cNvPr>
          <p:cNvSpPr txBox="1"/>
          <p:nvPr/>
        </p:nvSpPr>
        <p:spPr>
          <a:xfrm>
            <a:off x="11395833" y="7424155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 dirty="0">
                <a:solidFill>
                  <a:srgbClr val="6C7884"/>
                </a:solidFill>
                <a:latin typeface="Aptos"/>
              </a:rPr>
              <a:t>02</a:t>
            </a:r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28D3FB39-F79D-4D1A-E51D-DDD7086F5659}"/>
              </a:ext>
            </a:extLst>
          </p:cNvPr>
          <p:cNvSpPr/>
          <p:nvPr/>
        </p:nvSpPr>
        <p:spPr>
          <a:xfrm>
            <a:off x="380768" y="1339804"/>
            <a:ext cx="82296" cy="2148840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63E1166D-F278-7C88-CA2C-859B51CC1A3C}"/>
              </a:ext>
            </a:extLst>
          </p:cNvPr>
          <p:cNvSpPr/>
          <p:nvPr/>
        </p:nvSpPr>
        <p:spPr>
          <a:xfrm>
            <a:off x="526988" y="1291429"/>
            <a:ext cx="7422899" cy="2398294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b="1" dirty="0">
              <a:solidFill>
                <a:schemeClr val="tx1"/>
              </a:solidFill>
            </a:endParaRPr>
          </a:p>
          <a:p>
            <a:pPr algn="ctr"/>
            <a:endParaRPr lang="es-EC" b="1" dirty="0">
              <a:solidFill>
                <a:schemeClr val="tx1"/>
              </a:solidFill>
            </a:endParaRPr>
          </a:p>
          <a:p>
            <a:pPr algn="ctr"/>
            <a:endParaRPr lang="es-EC" b="1" dirty="0">
              <a:solidFill>
                <a:schemeClr val="tx1"/>
              </a:solidFill>
            </a:endParaRPr>
          </a:p>
          <a:p>
            <a:pPr algn="ctr"/>
            <a:r>
              <a:rPr lang="es-EC" b="1" dirty="0">
                <a:solidFill>
                  <a:schemeClr val="tx1"/>
                </a:solidFill>
              </a:rPr>
              <a:t>BOLETINES FINANCIEROS </a:t>
            </a:r>
          </a:p>
          <a:p>
            <a:r>
              <a:rPr lang="es-EC" dirty="0">
                <a:solidFill>
                  <a:schemeClr val="tx1"/>
                </a:solidFill>
              </a:rPr>
              <a:t>• Lectura automatizada de archivos Excel </a:t>
            </a:r>
          </a:p>
          <a:p>
            <a:r>
              <a:rPr lang="es-EC" dirty="0">
                <a:solidFill>
                  <a:schemeClr val="tx1"/>
                </a:solidFill>
              </a:rPr>
              <a:t>• Extracción de hojas INDICADORES, COMPOS CART y BALANCE </a:t>
            </a:r>
          </a:p>
          <a:p>
            <a:r>
              <a:rPr lang="es-EC" dirty="0">
                <a:solidFill>
                  <a:schemeClr val="tx1"/>
                </a:solidFill>
              </a:rPr>
              <a:t>• Limpieza y transformación de la estructura original </a:t>
            </a:r>
          </a:p>
          <a:p>
            <a:r>
              <a:rPr lang="es-EC" dirty="0">
                <a:solidFill>
                  <a:schemeClr val="tx1"/>
                </a:solidFill>
              </a:rPr>
              <a:t>• Identificación automática de MES y AÑO </a:t>
            </a:r>
          </a:p>
          <a:p>
            <a:r>
              <a:rPr lang="es-EC" dirty="0">
                <a:solidFill>
                  <a:schemeClr val="tx1"/>
                </a:solidFill>
              </a:rPr>
              <a:t>• Homologación de nombres de entidades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LISTAS DE DATAFRAMES MENSUALES -&gt;Integración mediante AÑO + MES + ENTIDAD</a:t>
            </a:r>
            <a:endParaRPr lang="es-EC" b="1" dirty="0">
              <a:solidFill>
                <a:schemeClr val="tx1"/>
              </a:solidFill>
            </a:endParaRPr>
          </a:p>
          <a:p>
            <a:pPr algn="ctr"/>
            <a:endParaRPr lang="es-EC" b="1" dirty="0">
              <a:solidFill>
                <a:schemeClr val="tx1"/>
              </a:solidFill>
            </a:endParaRPr>
          </a:p>
          <a:p>
            <a:pPr algn="ctr"/>
            <a:endParaRPr lang="es-EC" b="1" dirty="0">
              <a:solidFill>
                <a:schemeClr val="tx1"/>
              </a:solidFill>
            </a:endParaRPr>
          </a:p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F947CFF-EC0F-CEAC-B425-ED2C6DF3E31F}"/>
              </a:ext>
            </a:extLst>
          </p:cNvPr>
          <p:cNvSpPr/>
          <p:nvPr/>
        </p:nvSpPr>
        <p:spPr>
          <a:xfrm>
            <a:off x="463064" y="4002027"/>
            <a:ext cx="5568043" cy="3194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b="1" dirty="0">
              <a:solidFill>
                <a:schemeClr val="tx1"/>
              </a:solidFill>
            </a:endParaRPr>
          </a:p>
          <a:p>
            <a:pPr algn="ctr"/>
            <a:r>
              <a:rPr lang="es-EC" b="1" dirty="0">
                <a:solidFill>
                  <a:schemeClr val="tx1"/>
                </a:solidFill>
              </a:rPr>
              <a:t>HOMOLOGACIÓN DE ENTIDADES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BP FINCA S.A.-&gt;BP FINCA S.A./BANCO AMIBANK S.A.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BANCO AMIBANK S.A.-&gt;BP FINCA S.A./BANCO AMIBANK S.A.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 BANCO ATLÁNTIDA S.A.-&gt;BP D-MIRO S.A./BANCO ATLÁNTIDA S.A.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BP D-MIRO S.A.-&gt;BP D-MIRO S.A./BANCO ATLÁNTIDA S.A.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BP COMERCIAL DE MANABI-&gt;BP BANCO COMERCIAL DE MANABI"</a:t>
            </a:r>
          </a:p>
          <a:p>
            <a:pPr algn="ctr"/>
            <a:endParaRPr lang="es-EC" b="1" dirty="0">
              <a:solidFill>
                <a:schemeClr val="tx1"/>
              </a:solidFill>
            </a:endParaRPr>
          </a:p>
        </p:txBody>
      </p:sp>
      <p:sp>
        <p:nvSpPr>
          <p:cNvPr id="18" name="Nube 17">
            <a:extLst>
              <a:ext uri="{FF2B5EF4-FFF2-40B4-BE49-F238E27FC236}">
                <a16:creationId xmlns:a16="http://schemas.microsoft.com/office/drawing/2014/main" id="{AFC4F94D-9FEA-12F3-DE25-B777AD4C1E7E}"/>
              </a:ext>
            </a:extLst>
          </p:cNvPr>
          <p:cNvSpPr/>
          <p:nvPr/>
        </p:nvSpPr>
        <p:spPr>
          <a:xfrm>
            <a:off x="7673039" y="5653204"/>
            <a:ext cx="4388333" cy="1994089"/>
          </a:xfrm>
          <a:prstGeom prst="cloud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500" b="1" dirty="0">
                <a:solidFill>
                  <a:schemeClr val="tx1"/>
                </a:solidFill>
              </a:rPr>
              <a:t>LIBRERÍAS /MÓDULOS</a:t>
            </a:r>
          </a:p>
          <a:p>
            <a:pPr algn="ctr"/>
            <a:r>
              <a:rPr lang="es-EC" sz="1500" dirty="0">
                <a:solidFill>
                  <a:schemeClr val="tx1"/>
                </a:solidFill>
              </a:rPr>
              <a:t>Pandas · NumPy · Pathlib · JSON · src.load ·</a:t>
            </a:r>
          </a:p>
          <a:p>
            <a:pPr algn="ctr"/>
            <a:r>
              <a:rPr lang="es-EC" sz="1500" dirty="0">
                <a:solidFill>
                  <a:schemeClr val="tx1"/>
                </a:solidFill>
              </a:rPr>
              <a:t>src.feature_engineering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DFC04A42-3183-9042-0E08-0B14443F64EA}"/>
              </a:ext>
            </a:extLst>
          </p:cNvPr>
          <p:cNvSpPr/>
          <p:nvPr/>
        </p:nvSpPr>
        <p:spPr>
          <a:xfrm>
            <a:off x="8534052" y="2808061"/>
            <a:ext cx="2927562" cy="2301544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dirty="0">
                <a:solidFill>
                  <a:schemeClr val="tx1"/>
                </a:solidFill>
              </a:rPr>
              <a:t>PIPELINE MODULAR</a:t>
            </a:r>
          </a:p>
          <a:p>
            <a:pPr algn="ctr"/>
            <a:endParaRPr lang="es-EC" b="1" dirty="0">
              <a:solidFill>
                <a:schemeClr val="tx1"/>
              </a:solidFill>
            </a:endParaRPr>
          </a:p>
          <a:p>
            <a:pPr algn="ctr"/>
            <a:r>
              <a:rPr lang="es-EC" dirty="0">
                <a:solidFill>
                  <a:schemeClr val="tx1"/>
                </a:solidFill>
              </a:rPr>
              <a:t>procesar_indicadores()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procesar_cartera()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procesar_balances()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Dataframes mensuales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66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6F707-C5EB-CAA9-87C9-FFEB363A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42D529-D9CC-AEBE-F67A-88FCB4830A81}"/>
              </a:ext>
            </a:extLst>
          </p:cNvPr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8B65B-6306-2D32-F98D-8D91197DE7F5}"/>
              </a:ext>
            </a:extLst>
          </p:cNvPr>
          <p:cNvSpPr txBox="1"/>
          <p:nvPr/>
        </p:nvSpPr>
        <p:spPr>
          <a:xfrm>
            <a:off x="594360" y="613573"/>
            <a:ext cx="8901250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s-EC" sz="2600" b="1" dirty="0">
                <a:solidFill>
                  <a:srgbClr val="D3A643"/>
                </a:solidFill>
                <a:latin typeface="Aptos"/>
              </a:rPr>
              <a:t>3.1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 PREPROCESAMIENTO: FEATURE ENGINEERING 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474661-CFE1-33B4-0AA1-1B32B93D90B2}"/>
              </a:ext>
            </a:extLst>
          </p:cNvPr>
          <p:cNvSpPr/>
          <p:nvPr/>
        </p:nvSpPr>
        <p:spPr>
          <a:xfrm>
            <a:off x="544707" y="1151929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892798-9701-061F-44E1-A9BD5D16E85D}"/>
              </a:ext>
            </a:extLst>
          </p:cNvPr>
          <p:cNvSpPr txBox="1"/>
          <p:nvPr/>
        </p:nvSpPr>
        <p:spPr>
          <a:xfrm>
            <a:off x="544707" y="7397750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2A6008-243B-B053-B271-7DDD609C2D7C}"/>
              </a:ext>
            </a:extLst>
          </p:cNvPr>
          <p:cNvSpPr txBox="1"/>
          <p:nvPr/>
        </p:nvSpPr>
        <p:spPr>
          <a:xfrm>
            <a:off x="11395833" y="7424155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 dirty="0">
                <a:solidFill>
                  <a:srgbClr val="6C7884"/>
                </a:solidFill>
                <a:latin typeface="Aptos"/>
              </a:rPr>
              <a:t>02</a:t>
            </a:r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5DFC92E9-BFCD-1CF5-D4F5-7632D3D3D397}"/>
              </a:ext>
            </a:extLst>
          </p:cNvPr>
          <p:cNvSpPr/>
          <p:nvPr/>
        </p:nvSpPr>
        <p:spPr>
          <a:xfrm>
            <a:off x="501094" y="1972065"/>
            <a:ext cx="123444" cy="4102070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B10FCBE5-9336-62D5-CBB1-17DBF12C16F0}"/>
              </a:ext>
            </a:extLst>
          </p:cNvPr>
          <p:cNvSpPr/>
          <p:nvPr/>
        </p:nvSpPr>
        <p:spPr>
          <a:xfrm>
            <a:off x="624538" y="1400772"/>
            <a:ext cx="5471462" cy="5923155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dirty="0">
                <a:solidFill>
                  <a:schemeClr val="tx1"/>
                </a:solidFill>
              </a:rPr>
              <a:t>INDICADORES DE CARTERA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Componentes de cartera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↓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División entre CARTERA BRUTA , si es 0 se reemplaza por Null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↓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• Cartera improductiva / cartera bruta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 • Cartera vencida / cartera bruta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• Cartera que no devenga intereses / cartera bruta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 • Cartera refinanciada / cartera bruta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• Cartera reestructurada / cartera bruta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s-EC" b="1" dirty="0">
                <a:solidFill>
                  <a:schemeClr val="tx1"/>
                </a:solidFill>
              </a:rPr>
              <a:t>VARIACIONES INTERANUALES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Mismo MES + misma ENTIDAD + año anterior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↓ </a:t>
            </a:r>
            <a:endParaRPr lang="es-EC" b="1" dirty="0">
              <a:solidFill>
                <a:schemeClr val="tx1"/>
              </a:solidFill>
            </a:endParaRPr>
          </a:p>
          <a:p>
            <a:pPr algn="ctr"/>
            <a:r>
              <a:rPr lang="es-EC" dirty="0">
                <a:solidFill>
                  <a:schemeClr val="tx1"/>
                </a:solidFill>
              </a:rPr>
              <a:t>Si Anterior=0, Actual 0 -&gt; Var.=0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Si Anterior=0, Actual ≠ 0 -&gt; Var.= 1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Si Anterior ≠ 0 -&gt; Var.= (Actual − Anterior) / Anterior </a:t>
            </a:r>
          </a:p>
          <a:p>
            <a:pPr algn="ctr"/>
            <a:r>
              <a:rPr lang="es-EC" dirty="0">
                <a:solidFill>
                  <a:schemeClr val="tx1"/>
                </a:solidFill>
              </a:rPr>
              <a:t>Caso no definido =Null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27">
            <a:extLst>
              <a:ext uri="{FF2B5EF4-FFF2-40B4-BE49-F238E27FC236}">
                <a16:creationId xmlns:a16="http://schemas.microsoft.com/office/drawing/2014/main" id="{996B62A5-2EFE-ED06-A6FD-90F179A60601}"/>
              </a:ext>
            </a:extLst>
          </p:cNvPr>
          <p:cNvSpPr/>
          <p:nvPr/>
        </p:nvSpPr>
        <p:spPr>
          <a:xfrm>
            <a:off x="6550974" y="1291853"/>
            <a:ext cx="5166360" cy="2789687"/>
          </a:xfrm>
          <a:prstGeom prst="roundRect">
            <a:avLst/>
          </a:prstGeom>
          <a:solidFill>
            <a:srgbClr val="F7F5E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CUENTAS UTILIZADAS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Fondos disponibles (Cta. Contable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Inversiones (Cta. Contable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Cartera de créditos (Cta. Contable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Total activo (Cta. Contable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Depósitos a la vista (Cta. Contable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Depósitos a plazo (Cta. Contable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Total patrimonio (Cta. Contable 11)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B30DEA2-C492-AD98-3503-D2BF0D2DEDCB}"/>
              </a:ext>
            </a:extLst>
          </p:cNvPr>
          <p:cNvSpPr/>
          <p:nvPr/>
        </p:nvSpPr>
        <p:spPr>
          <a:xfrm flipH="1">
            <a:off x="6550973" y="1400772"/>
            <a:ext cx="82297" cy="2567978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ECF6E56C-87E1-B93F-3D76-FF5480EF74C7}"/>
              </a:ext>
            </a:extLst>
          </p:cNvPr>
          <p:cNvSpPr/>
          <p:nvPr/>
        </p:nvSpPr>
        <p:spPr>
          <a:xfrm>
            <a:off x="6573834" y="4889310"/>
            <a:ext cx="82296" cy="1647418"/>
          </a:xfrm>
          <a:prstGeom prst="rect">
            <a:avLst/>
          </a:prstGeom>
          <a:solidFill>
            <a:srgbClr val="5B9BD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21A7E4F3-1E5A-CCDD-FEF3-8D1223D760E6}"/>
              </a:ext>
            </a:extLst>
          </p:cNvPr>
          <p:cNvSpPr/>
          <p:nvPr/>
        </p:nvSpPr>
        <p:spPr>
          <a:xfrm>
            <a:off x="6524546" y="4419986"/>
            <a:ext cx="5166360" cy="3109208"/>
          </a:xfrm>
          <a:prstGeom prst="roundRect">
            <a:avLst/>
          </a:prstGeom>
          <a:solidFill>
            <a:srgbClr val="F7F5E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>
                <a:solidFill>
                  <a:schemeClr val="tx1"/>
                </a:solidFill>
              </a:rPr>
              <a:t>Las proporciones sobre la cartera bruta permiten incorporar la estructura y calidad crediticia relativa de cada entidad, además de su volumen de cartera.</a:t>
            </a:r>
          </a:p>
          <a:p>
            <a:pPr algn="ctr"/>
            <a:endParaRPr lang="es-EC" dirty="0">
              <a:solidFill>
                <a:schemeClr val="tx1"/>
              </a:solidFill>
            </a:endParaRPr>
          </a:p>
          <a:p>
            <a:pPr algn="ctr"/>
            <a:r>
              <a:rPr lang="es-EC" dirty="0">
                <a:solidFill>
                  <a:schemeClr val="tx1"/>
                </a:solidFill>
              </a:rPr>
              <a:t>Las variaciones interanuales permiten incorporar dinamismo financiero además del nivel observado en cada período.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B914272B-44A9-83C9-856F-8DA39B5E4EB5}"/>
              </a:ext>
            </a:extLst>
          </p:cNvPr>
          <p:cNvSpPr/>
          <p:nvPr/>
        </p:nvSpPr>
        <p:spPr>
          <a:xfrm>
            <a:off x="6539854" y="4610269"/>
            <a:ext cx="93415" cy="2725612"/>
          </a:xfrm>
          <a:prstGeom prst="rect">
            <a:avLst/>
          </a:prstGeom>
          <a:solidFill>
            <a:srgbClr val="5B9BD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05903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0A202-3E6A-DDF6-BBEE-88AF4122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558C9D-B3AB-231B-363B-A678B36CB0D8}"/>
              </a:ext>
            </a:extLst>
          </p:cNvPr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C67B2-B98A-F340-2615-1C458F827656}"/>
              </a:ext>
            </a:extLst>
          </p:cNvPr>
          <p:cNvSpPr txBox="1"/>
          <p:nvPr/>
        </p:nvSpPr>
        <p:spPr>
          <a:xfrm>
            <a:off x="594359" y="613574"/>
            <a:ext cx="10362111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lang="es-EC" sz="2600" b="1" dirty="0">
                <a:solidFill>
                  <a:srgbClr val="D3A643"/>
                </a:solidFill>
                <a:latin typeface="Aptos"/>
              </a:rPr>
              <a:t>3.1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 PREPROCESAMIENTO: LIMPIEZA E INTEGRACIÓN FINAL 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0782D4-CA5F-6755-73F5-22EC8928226A}"/>
              </a:ext>
            </a:extLst>
          </p:cNvPr>
          <p:cNvSpPr/>
          <p:nvPr/>
        </p:nvSpPr>
        <p:spPr>
          <a:xfrm>
            <a:off x="544707" y="1151929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7C6CD-E261-F2B6-927A-27F673C17073}"/>
              </a:ext>
            </a:extLst>
          </p:cNvPr>
          <p:cNvSpPr txBox="1"/>
          <p:nvPr/>
        </p:nvSpPr>
        <p:spPr>
          <a:xfrm>
            <a:off x="544707" y="7397750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42782F-2224-50C6-3EC3-5995ED0AAEFF}"/>
              </a:ext>
            </a:extLst>
          </p:cNvPr>
          <p:cNvSpPr txBox="1"/>
          <p:nvPr/>
        </p:nvSpPr>
        <p:spPr>
          <a:xfrm>
            <a:off x="11395833" y="7424155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 dirty="0">
                <a:solidFill>
                  <a:srgbClr val="6C7884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3F11E2A-3589-CDF1-8D91-C8BB6EB82560}"/>
              </a:ext>
            </a:extLst>
          </p:cNvPr>
          <p:cNvSpPr/>
          <p:nvPr/>
        </p:nvSpPr>
        <p:spPr>
          <a:xfrm>
            <a:off x="5440775" y="1378318"/>
            <a:ext cx="2423160" cy="1852320"/>
          </a:xfrm>
          <a:prstGeom prst="round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  <a:p>
            <a:pPr algn="ctr"/>
            <a:r>
              <a:rPr lang="es-EC" b="1" u="sng" dirty="0"/>
              <a:t>Observaciones</a:t>
            </a:r>
          </a:p>
          <a:p>
            <a:pPr algn="ctr"/>
            <a:endParaRPr lang="es-EC" dirty="0"/>
          </a:p>
          <a:p>
            <a:pPr algn="ctr"/>
            <a:r>
              <a:rPr lang="es-EC" dirty="0"/>
              <a:t>1.208</a:t>
            </a:r>
          </a:p>
          <a:p>
            <a:pPr algn="ctr"/>
            <a:r>
              <a:rPr lang="es-EC" dirty="0">
                <a:solidFill>
                  <a:schemeClr val="bg1"/>
                </a:solidFill>
              </a:rPr>
              <a:t>↓</a:t>
            </a:r>
          </a:p>
          <a:p>
            <a:pPr algn="ctr"/>
            <a:r>
              <a:rPr lang="es-EC" dirty="0">
                <a:solidFill>
                  <a:schemeClr val="bg1"/>
                </a:solidFill>
              </a:rPr>
              <a:t>1.207 </a:t>
            </a:r>
          </a:p>
          <a:p>
            <a:pPr algn="ctr"/>
            <a:endParaRPr dirty="0"/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2E5C050C-B202-CF35-31C7-19598C744A7C}"/>
              </a:ext>
            </a:extLst>
          </p:cNvPr>
          <p:cNvSpPr/>
          <p:nvPr/>
        </p:nvSpPr>
        <p:spPr>
          <a:xfrm>
            <a:off x="9109654" y="3143738"/>
            <a:ext cx="1974268" cy="1188720"/>
          </a:xfrm>
          <a:prstGeom prst="roundRect">
            <a:avLst/>
          </a:prstGeom>
          <a:solidFill>
            <a:srgbClr val="5B9BD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u="sng" dirty="0"/>
              <a:t>Duplicados</a:t>
            </a:r>
          </a:p>
          <a:p>
            <a:pPr algn="ctr"/>
            <a:r>
              <a:rPr lang="es-EC" dirty="0"/>
              <a:t>0</a:t>
            </a:r>
          </a:p>
          <a:p>
            <a:pPr algn="ctr"/>
            <a:r>
              <a:rPr lang="es-EC" dirty="0"/>
              <a:t>AÑO-MES-ENTIDAD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9871B0-51D4-E708-BFE3-EFB4D764E484}"/>
              </a:ext>
            </a:extLst>
          </p:cNvPr>
          <p:cNvSpPr/>
          <p:nvPr/>
        </p:nvSpPr>
        <p:spPr>
          <a:xfrm>
            <a:off x="9033033" y="1383296"/>
            <a:ext cx="1974268" cy="1518126"/>
          </a:xfrm>
          <a:prstGeom prst="round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 u="sng" dirty="0"/>
              <a:t>Infinitos</a:t>
            </a:r>
          </a:p>
          <a:p>
            <a:pPr algn="ctr"/>
            <a:r>
              <a:rPr lang="es-EC" dirty="0"/>
              <a:t>0</a:t>
            </a:r>
          </a:p>
          <a:p>
            <a:pPr algn="ctr"/>
            <a:r>
              <a:rPr lang="es-EC" dirty="0"/>
              <a:t>Validación de divisiones</a:t>
            </a:r>
            <a:endParaRPr dirty="0"/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48AE3201-65C8-C0EC-86FA-6D650A4C8824}"/>
              </a:ext>
            </a:extLst>
          </p:cNvPr>
          <p:cNvSpPr/>
          <p:nvPr/>
        </p:nvSpPr>
        <p:spPr>
          <a:xfrm>
            <a:off x="1271161" y="1247610"/>
            <a:ext cx="2423160" cy="1188720"/>
          </a:xfrm>
          <a:prstGeom prst="round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u="sng" dirty="0"/>
              <a:t>24 entidades privadas </a:t>
            </a:r>
            <a:endParaRPr u="sng" dirty="0"/>
          </a:p>
        </p:txBody>
      </p:sp>
      <p:sp>
        <p:nvSpPr>
          <p:cNvPr id="19" name="Rounded Rectangle 27">
            <a:extLst>
              <a:ext uri="{FF2B5EF4-FFF2-40B4-BE49-F238E27FC236}">
                <a16:creationId xmlns:a16="http://schemas.microsoft.com/office/drawing/2014/main" id="{82169AF7-75D0-7D81-57C9-09D330BE6BA3}"/>
              </a:ext>
            </a:extLst>
          </p:cNvPr>
          <p:cNvSpPr/>
          <p:nvPr/>
        </p:nvSpPr>
        <p:spPr>
          <a:xfrm>
            <a:off x="361896" y="2171125"/>
            <a:ext cx="4484914" cy="5013291"/>
          </a:xfrm>
          <a:prstGeom prst="roundRect">
            <a:avLst/>
          </a:prstGeom>
          <a:solidFill>
            <a:srgbClr val="F7F5E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Pichincha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Guayaquil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Pacífico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Produbanco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Austro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Bolivariano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Citibank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Diners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G.Rumiñahui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Internacional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Loja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Machala 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Solidario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Procredit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Amazonas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Comercial de Manabí</a:t>
            </a:r>
          </a:p>
          <a:p>
            <a:pPr marL="342900" indent="-342900">
              <a:buFont typeface="+mj-lt"/>
              <a:buAutoNum type="arabicPeriod"/>
            </a:pPr>
            <a:endParaRPr lang="es-EC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Litoral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BPCoopnacional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Capital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Finca S.A/ Banco Amibank S.A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Delbank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D-Miro S.A / BP Atlántida S.A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Desarrollo de los Pueblos S.A Codesarrollo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tx1"/>
                </a:solidFill>
              </a:rPr>
              <a:t>BP Visionfund Ecuador S.A </a:t>
            </a:r>
          </a:p>
          <a:p>
            <a:pPr algn="ctr"/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7C57B073-96C5-5C23-C39C-B13B6CCF6E62}"/>
              </a:ext>
            </a:extLst>
          </p:cNvPr>
          <p:cNvSpPr/>
          <p:nvPr/>
        </p:nvSpPr>
        <p:spPr>
          <a:xfrm>
            <a:off x="4993477" y="3050947"/>
            <a:ext cx="3703109" cy="3476421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 CONTROL DE NULOS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 Nulos detectados en indicadores de cartera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 ↓       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1 observación excluida</a:t>
            </a:r>
          </a:p>
          <a:p>
            <a:r>
              <a:rPr lang="es-ES" dirty="0">
                <a:solidFill>
                  <a:schemeClr val="tx1"/>
                </a:solidFill>
              </a:rPr>
              <a:t>                           ↓</a:t>
            </a:r>
          </a:p>
          <a:p>
            <a:r>
              <a:rPr lang="es-ES" dirty="0">
                <a:solidFill>
                  <a:schemeClr val="tx1"/>
                </a:solidFill>
              </a:rPr>
              <a:t>        BP FINCA / BANCO AMIBANK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Proceso de liquidación: 11 de Marzo de 2025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98AECB8F-252D-D122-807F-18B9DCEBD070}"/>
              </a:ext>
            </a:extLst>
          </p:cNvPr>
          <p:cNvSpPr/>
          <p:nvPr/>
        </p:nvSpPr>
        <p:spPr>
          <a:xfrm>
            <a:off x="8797057" y="4879515"/>
            <a:ext cx="2720450" cy="2125442"/>
          </a:xfrm>
          <a:prstGeom prst="round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u="sng" dirty="0"/>
              <a:t>SALIDA DEL PIPELINE:</a:t>
            </a:r>
          </a:p>
          <a:p>
            <a:pPr algn="ctr"/>
            <a:endParaRPr lang="es-EC" u="sng" dirty="0"/>
          </a:p>
          <a:p>
            <a:pPr algn="ctr"/>
            <a:r>
              <a:rPr lang="es-EC" dirty="0"/>
              <a:t>1.207 obs. x 34 col.</a:t>
            </a:r>
          </a:p>
          <a:p>
            <a:pPr algn="ctr"/>
            <a:endParaRPr lang="es-EC" dirty="0"/>
          </a:p>
          <a:p>
            <a:pPr algn="ctr"/>
            <a:r>
              <a:rPr lang="es-EC" dirty="0"/>
              <a:t>(31 indicadores+ AÑO+ MES+ENTIDAD)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616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34152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4394" y="433462"/>
            <a:ext cx="7222286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4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 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ANÁLISIS EXPLORATORIO DE DATOS (EDA) 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7492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2496175"/>
            <a:ext cx="2148840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Observaciones banco–año–mes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008252"/>
            <a:ext cx="2203704" cy="446276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496175"/>
            <a:ext cx="2148840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Indicadores utilizados en PCA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496175"/>
            <a:ext cx="2148840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Fuentes integradas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88660"/>
            <a:ext cx="292608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2F52"/>
                </a:solidFill>
                <a:latin typeface="Aptos"/>
              </a:rPr>
              <a:t>PIPELINE DE PREPARACIÓN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1" y="2277110"/>
            <a:ext cx="1874519" cy="658368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438913"/>
            <a:ext cx="32004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3A643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33616"/>
            <a:ext cx="1298448" cy="253916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22F52"/>
                </a:solidFill>
                <a:latin typeface="Aptos"/>
              </a:rPr>
              <a:t>Integración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9" y="2277110"/>
            <a:ext cx="1874519" cy="658368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2438913"/>
            <a:ext cx="32004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3A64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2433616"/>
            <a:ext cx="1298448" cy="253916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22F52"/>
                </a:solidFill>
                <a:latin typeface="Aptos"/>
              </a:rPr>
              <a:t>Homogeneización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7" y="2277110"/>
            <a:ext cx="1874519" cy="658368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7216" y="2438913"/>
            <a:ext cx="32004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3A643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5544" y="2433616"/>
            <a:ext cx="1298448" cy="253916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22F52"/>
                </a:solidFill>
                <a:latin typeface="Aptos"/>
              </a:rPr>
              <a:t>Faltantes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8625" y="2277110"/>
            <a:ext cx="1874519" cy="658368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0064" y="2438913"/>
            <a:ext cx="32004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3A643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352825"/>
            <a:ext cx="1298448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22F52"/>
                </a:solidFill>
                <a:latin typeface="Aptos"/>
              </a:rPr>
              <a:t>Duplicados / formatos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1473" y="2277110"/>
            <a:ext cx="1874519" cy="658368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82911" y="2438913"/>
            <a:ext cx="320040" cy="2616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3A643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352825"/>
            <a:ext cx="1298448" cy="41549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22F52"/>
                </a:solidFill>
                <a:latin typeface="Aptos"/>
              </a:rPr>
              <a:t>Feature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20110"/>
            <a:ext cx="5074920" cy="2148840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420110"/>
            <a:ext cx="82296" cy="2148840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575558"/>
            <a:ext cx="46634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DECISIONES DE LIMPIEZA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987038"/>
            <a:ext cx="4663440" cy="861774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250" dirty="0">
                <a:solidFill>
                  <a:srgbClr val="27303A"/>
                </a:solidFill>
                <a:latin typeface="Aptos"/>
              </a:rPr>
              <a:t>• Variables no comparables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eliminadas</a:t>
            </a:r>
            <a:r>
              <a:rPr sz="1250" dirty="0">
                <a:solidFill>
                  <a:srgbClr val="27303A"/>
                </a:solidFill>
                <a:latin typeface="Aptos"/>
              </a:rPr>
              <a:t>.
• Variables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redundantes</a:t>
            </a:r>
            <a:r>
              <a:rPr sz="1250" dirty="0">
                <a:solidFill>
                  <a:srgbClr val="27303A"/>
                </a:solidFill>
                <a:latin typeface="Aptos"/>
              </a:rPr>
              <a:t>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eliminadas</a:t>
            </a:r>
            <a:r>
              <a:rPr sz="1250" dirty="0">
                <a:solidFill>
                  <a:srgbClr val="27303A"/>
                </a:solidFill>
                <a:latin typeface="Aptos"/>
              </a:rPr>
              <a:t>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mediante</a:t>
            </a:r>
            <a:r>
              <a:rPr sz="1250" dirty="0">
                <a:solidFill>
                  <a:srgbClr val="27303A"/>
                </a:solidFill>
                <a:latin typeface="Aptos"/>
              </a:rPr>
              <a:t>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correlación</a:t>
            </a:r>
            <a:r>
              <a:rPr sz="1250" dirty="0">
                <a:solidFill>
                  <a:srgbClr val="27303A"/>
                </a:solidFill>
                <a:latin typeface="Aptos"/>
              </a:rPr>
              <a:t>.
•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Revisión</a:t>
            </a:r>
            <a:r>
              <a:rPr sz="1250" dirty="0">
                <a:solidFill>
                  <a:srgbClr val="27303A"/>
                </a:solidFill>
                <a:latin typeface="Aptos"/>
              </a:rPr>
              <a:t> de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faltantes</a:t>
            </a:r>
            <a:r>
              <a:rPr sz="1250" dirty="0">
                <a:solidFill>
                  <a:srgbClr val="27303A"/>
                </a:solidFill>
                <a:latin typeface="Aptos"/>
              </a:rPr>
              <a:t> y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consistencia</a:t>
            </a:r>
            <a:r>
              <a:rPr sz="1250" dirty="0">
                <a:solidFill>
                  <a:srgbClr val="27303A"/>
                </a:solidFill>
                <a:latin typeface="Aptos"/>
              </a:rPr>
              <a:t>.
• Outliers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detectados</a:t>
            </a:r>
            <a:r>
              <a:rPr sz="1250" dirty="0">
                <a:solidFill>
                  <a:srgbClr val="27303A"/>
                </a:solidFill>
                <a:latin typeface="Aptos"/>
              </a:rPr>
              <a:t> </a:t>
            </a:r>
            <a:r>
              <a:rPr sz="1250" dirty="0" err="1">
                <a:solidFill>
                  <a:srgbClr val="27303A"/>
                </a:solidFill>
                <a:latin typeface="Aptos"/>
              </a:rPr>
              <a:t>mediante</a:t>
            </a:r>
            <a:r>
              <a:rPr sz="1250" dirty="0">
                <a:solidFill>
                  <a:srgbClr val="27303A"/>
                </a:solidFill>
                <a:latin typeface="Aptos"/>
              </a:rPr>
              <a:t> IQR.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420110"/>
            <a:ext cx="5074920" cy="2148840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3420110"/>
            <a:ext cx="82296" cy="2148840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3575558"/>
            <a:ext cx="46634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CRITERIO SOBRE OUTLIERS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987038"/>
            <a:ext cx="4663440" cy="861774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250">
                <a:solidFill>
                  <a:srgbClr val="27303A"/>
                </a:solidFill>
                <a:latin typeface="Aptos"/>
              </a:rPr>
              <a:t>Los valores extremos fueron detectados pero no eliminados automáticamente, porque pueden representar situaciones financieras reales y modificar la estructura que identifica el clustering.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10872"/>
            <a:ext cx="1051560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Resultado → base analítica depurada y comparable entre entidades y períodos.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04</a:t>
            </a:r>
          </a:p>
        </p:txBody>
      </p:sp>
      <p:sp>
        <p:nvSpPr>
          <p:cNvPr id="34" name="TextBox 2">
            <a:extLst>
              <a:ext uri="{FF2B5EF4-FFF2-40B4-BE49-F238E27FC236}">
                <a16:creationId xmlns:a16="http://schemas.microsoft.com/office/drawing/2014/main" id="{55AF003C-6768-1EBF-2D8D-04873F7E9321}"/>
              </a:ext>
            </a:extLst>
          </p:cNvPr>
          <p:cNvSpPr txBox="1"/>
          <p:nvPr/>
        </p:nvSpPr>
        <p:spPr>
          <a:xfrm>
            <a:off x="356601" y="800849"/>
            <a:ext cx="8968152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5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 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ANÁLISIS DE COMPONENTES PRINCIPALES (PCA) 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74190"/>
            <a:ext cx="5120640" cy="3383280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868345"/>
            <a:ext cx="4297680" cy="64633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6C7884"/>
                </a:solidFill>
                <a:latin typeface="Aptos"/>
              </a:rPr>
              <a:t>INSERTAR MATRIZ DE
CORRELACIONES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774190"/>
            <a:ext cx="5074920" cy="3383280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868345"/>
            <a:ext cx="4343400" cy="64633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6C7884"/>
                </a:solidFill>
                <a:latin typeface="Aptos"/>
              </a:rPr>
              <a:t>INSERTAR DISTRIBUCIONES /
OUTLIERS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98809"/>
            <a:ext cx="274320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3A643"/>
                </a:solidFill>
                <a:latin typeface="Aptos"/>
              </a:rPr>
              <a:t>¿Qué aportó el EDA?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459223"/>
            <a:ext cx="8229600" cy="715581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22F52"/>
                </a:solidFill>
                <a:latin typeface="Aptos"/>
              </a:rPr>
              <a:t>Correlaciones elevadas → redundancia
Valores extremos → interpretación, no eliminación mecánica
Escalas diferentes → estandarización antes de 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05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CEEA33C5-F110-C969-80C1-30C13EE5AAF0}"/>
              </a:ext>
            </a:extLst>
          </p:cNvPr>
          <p:cNvSpPr txBox="1"/>
          <p:nvPr/>
        </p:nvSpPr>
        <p:spPr>
          <a:xfrm>
            <a:off x="356601" y="800849"/>
            <a:ext cx="8968152" cy="4924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600" b="1" dirty="0">
                <a:solidFill>
                  <a:srgbClr val="D3A643"/>
                </a:solidFill>
                <a:latin typeface="Aptos"/>
              </a:rPr>
              <a:t>0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6</a:t>
            </a:r>
            <a:r>
              <a:rPr sz="2600" b="1" dirty="0">
                <a:solidFill>
                  <a:srgbClr val="D3A643"/>
                </a:solidFill>
                <a:latin typeface="Aptos"/>
              </a:rPr>
              <a:t> · </a:t>
            </a:r>
            <a:r>
              <a:rPr lang="es-ES" sz="2600" b="1" dirty="0">
                <a:solidFill>
                  <a:srgbClr val="D3A643"/>
                </a:solidFill>
                <a:latin typeface="Aptos"/>
              </a:rPr>
              <a:t>CLUSTERING </a:t>
            </a:r>
            <a:endParaRPr sz="2600" b="1" dirty="0">
              <a:solidFill>
                <a:srgbClr val="D3A64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48221"/>
            <a:ext cx="228600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3A643"/>
                </a:solidFill>
                <a:latin typeface="Aptos"/>
              </a:rPr>
              <a:t>05 ·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2676"/>
            <a:ext cx="10241280" cy="43088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22F52"/>
                </a:solidFill>
                <a:latin typeface="Aptos"/>
              </a:rPr>
              <a:t>PCA mediante SVD: de 24 indicadores a una representación compacta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65630"/>
            <a:ext cx="3794760" cy="2423160"/>
          </a:xfrm>
          <a:prstGeom prst="round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66960"/>
            <a:ext cx="3246120" cy="5232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Z = UΣVᵀ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08156"/>
            <a:ext cx="324612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97D7D3"/>
                </a:solidFill>
                <a:latin typeface="Aptos"/>
              </a:rPr>
              <a:t>Estandarización + SVD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7771"/>
            <a:ext cx="324612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T = ZV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865630"/>
            <a:ext cx="6446520" cy="3154680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2616885"/>
            <a:ext cx="5440680" cy="64633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6C7884"/>
                </a:solidFill>
                <a:latin typeface="Aptos"/>
              </a:rPr>
              <a:t>INSERTAR GRÁFICO DE
VARIANZA EXPLICADA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691196"/>
            <a:ext cx="544068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35B91"/>
                </a:solidFill>
                <a:latin typeface="Aptos"/>
              </a:rPr>
              <a:t>PC11 ≈ 80%   |   PC15 ≈ 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5002"/>
            <a:ext cx="10515600" cy="30777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303A"/>
                </a:solidFill>
                <a:latin typeface="Aptos"/>
              </a:rPr>
              <a:t>Las cargas permiten relacionar cada componente con los indicadores financieros originales.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48221"/>
            <a:ext cx="228600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3A643"/>
                </a:solidFill>
                <a:latin typeface="Aptos"/>
              </a:rPr>
              <a:t>06 ·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2676"/>
            <a:ext cx="10241280" cy="43088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22F52"/>
                </a:solidFill>
                <a:latin typeface="Aptos"/>
              </a:rPr>
              <a:t>PC11 vs. PC15: más varianza no implica mejor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03824"/>
            <a:ext cx="3200400" cy="36933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122F52"/>
                </a:solidFill>
                <a:latin typeface="Aptos"/>
              </a:rPr>
              <a:t>Comparación para K = 2–10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77110"/>
            <a:ext cx="4160520" cy="530352"/>
          </a:xfrm>
          <a:prstGeom prst="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367936"/>
            <a:ext cx="406908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Criterio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2277110"/>
            <a:ext cx="2880360" cy="530352"/>
          </a:xfrm>
          <a:prstGeom prst="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2367936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PC11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59" y="2277110"/>
            <a:ext cx="2880360" cy="530352"/>
          </a:xfrm>
          <a:prstGeom prst="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2367936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PC15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71470"/>
            <a:ext cx="4160520" cy="566928"/>
          </a:xfrm>
          <a:prstGeom prst="rect">
            <a:avLst/>
          </a:prstGeom>
          <a:solidFill>
            <a:srgbClr val="F7F5EE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80584"/>
            <a:ext cx="406908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 b="1" dirty="0" err="1">
                <a:solidFill>
                  <a:srgbClr val="122F52"/>
                </a:solidFill>
                <a:latin typeface="Aptos"/>
              </a:rPr>
              <a:t>Varianza</a:t>
            </a:r>
            <a:r>
              <a:rPr sz="1250" b="1" dirty="0">
                <a:solidFill>
                  <a:srgbClr val="122F52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22F52"/>
                </a:solidFill>
                <a:latin typeface="Aptos"/>
              </a:rPr>
              <a:t>acumulada</a:t>
            </a:r>
            <a:endParaRPr sz="1250" b="1" dirty="0">
              <a:solidFill>
                <a:srgbClr val="122F52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00600" y="2871470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2980584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≈ 80%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59" y="2871470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6679" y="2980584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≈ 91%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29837"/>
            <a:ext cx="4160520" cy="566928"/>
          </a:xfrm>
          <a:prstGeom prst="rect">
            <a:avLst/>
          </a:prstGeom>
          <a:solidFill>
            <a:srgbClr val="F7F5EE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638951"/>
            <a:ext cx="406908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F52"/>
                </a:solidFill>
                <a:latin typeface="Aptos"/>
              </a:rPr>
              <a:t>Silhouette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3529837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3638951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Mejor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59" y="3529837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79" y="3638951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Menor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88206"/>
            <a:ext cx="4160520" cy="566928"/>
          </a:xfrm>
          <a:prstGeom prst="rect">
            <a:avLst/>
          </a:prstGeom>
          <a:solidFill>
            <a:srgbClr val="F7F5EE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297320"/>
            <a:ext cx="406908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F52"/>
                </a:solidFill>
                <a:latin typeface="Aptos"/>
              </a:rPr>
              <a:t>Davies-Bouldin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4188206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297320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Menor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59" y="4188206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79" y="4297320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Mayor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46574"/>
            <a:ext cx="4160520" cy="566928"/>
          </a:xfrm>
          <a:prstGeom prst="rect">
            <a:avLst/>
          </a:prstGeom>
          <a:solidFill>
            <a:srgbClr val="F7F5EE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955688"/>
            <a:ext cx="406908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F52"/>
                </a:solidFill>
                <a:latin typeface="Aptos"/>
              </a:rPr>
              <a:t>Calinski-Harabasz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4846574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0" y="4955688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Mayor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59" y="4846574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6679" y="4955688"/>
            <a:ext cx="2788920" cy="28469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50">
                <a:solidFill>
                  <a:srgbClr val="27303A"/>
                </a:solidFill>
                <a:latin typeface="Aptos"/>
              </a:rPr>
              <a:t>Menor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706110"/>
            <a:ext cx="9921240" cy="685800"/>
          </a:xfrm>
          <a:prstGeom prst="round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846281"/>
            <a:ext cx="242316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3A643"/>
                </a:solidFill>
                <a:latin typeface="Aptos"/>
              </a:rPr>
              <a:t>DECISIÓN → PC11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857821"/>
            <a:ext cx="6766560" cy="300082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Mejor estructura para clustering, aun conservando menos varianza que PC15.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48221"/>
            <a:ext cx="228600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3A643"/>
                </a:solidFill>
                <a:latin typeface="Aptos"/>
              </a:rPr>
              <a:t>07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2676"/>
            <a:ext cx="10241280" cy="43088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22F52"/>
                </a:solidFill>
                <a:latin typeface="Aptos"/>
              </a:rPr>
              <a:t>K-Means: selección de K y estabilidad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19910"/>
            <a:ext cx="3794760" cy="3246120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19910"/>
            <a:ext cx="82296" cy="3246120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75357"/>
            <a:ext cx="338328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PROCESO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86838"/>
            <a:ext cx="3383280" cy="1938992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500">
                <a:solidFill>
                  <a:srgbClr val="27303A"/>
                </a:solidFill>
                <a:latin typeface="Aptos"/>
              </a:rPr>
              <a:t>Inicializar centroides
↓
Asignar observaciones al centroide más cercano
↓
Recalcular centroides
↓
Iterar hasta convergencia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819910"/>
            <a:ext cx="3017520" cy="1463040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09160" y="1819910"/>
            <a:ext cx="82296" cy="1463040"/>
          </a:xfrm>
          <a:prstGeom prst="rect">
            <a:avLst/>
          </a:prstGeom>
          <a:solidFill>
            <a:srgbClr val="5B9BD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6049" y="1975357"/>
            <a:ext cx="2606039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CALIDAD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9" y="2386838"/>
            <a:ext cx="2606039" cy="738664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400">
                <a:solidFill>
                  <a:srgbClr val="27303A"/>
                </a:solidFill>
                <a:latin typeface="Aptos"/>
              </a:rPr>
              <a:t>Silhouette ↑
Davies-Bouldin ↓
Calinski-Harabasz 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19910"/>
            <a:ext cx="3200400" cy="1463040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819910"/>
            <a:ext cx="82296" cy="1463040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7" y="1975357"/>
            <a:ext cx="278892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ESTABILIDAD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2386838"/>
            <a:ext cx="2788920" cy="52322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400">
                <a:solidFill>
                  <a:srgbClr val="27303A"/>
                </a:solidFill>
                <a:latin typeface="Aptos"/>
              </a:rPr>
              <a:t>ARI con 10 semillas
45 comparaciones por 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557270"/>
            <a:ext cx="6446520" cy="1508760"/>
          </a:xfrm>
          <a:prstGeom prst="roundRect">
            <a:avLst/>
          </a:prstGeom>
          <a:solidFill>
            <a:srgbClr val="EDF3F9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9160" y="3557270"/>
            <a:ext cx="82296" cy="1508760"/>
          </a:xfrm>
          <a:prstGeom prst="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3712718"/>
            <a:ext cx="6035040" cy="3200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SELECCIÓN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124198"/>
            <a:ext cx="6035040" cy="707886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2000">
                <a:solidFill>
                  <a:srgbClr val="27303A"/>
                </a:solidFill>
                <a:latin typeface="Aptos"/>
              </a:rPr>
              <a:t>PC11 + K = 4
ARI = 1.00 para K=4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13108"/>
            <a:ext cx="10469880" cy="323165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F52"/>
                </a:solidFill>
                <a:latin typeface="Aptos"/>
              </a:rPr>
              <a:t>También se revisaron tamaño de clusters y parsimonia: K=4 evita una fragmentación excesiva.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48221"/>
            <a:ext cx="228600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3A643"/>
                </a:solidFill>
                <a:latin typeface="Aptos"/>
              </a:rPr>
              <a:t>08 · CARACTERIZACIÓN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2676"/>
            <a:ext cx="10241280" cy="43088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22F52"/>
                </a:solidFill>
                <a:latin typeface="Aptos"/>
              </a:rPr>
              <a:t>Los cuatro perfiles financieros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65631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65631"/>
            <a:ext cx="91440" cy="1874519"/>
          </a:xfrm>
          <a:prstGeom prst="rect">
            <a:avLst/>
          </a:prstGeom>
          <a:solidFill>
            <a:srgbClr val="367E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25260"/>
            <a:ext cx="1188720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C7884"/>
                </a:solidFill>
                <a:latin typeface="Aptos"/>
              </a:rPr>
              <a:t>CLUSTER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639"/>
            <a:ext cx="452628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22F52"/>
                </a:solidFill>
                <a:latin typeface="Aptos"/>
              </a:rPr>
              <a:t>EXCELENTE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71470"/>
            <a:ext cx="4434840" cy="477054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250">
                <a:solidFill>
                  <a:srgbClr val="27303A"/>
                </a:solidFill>
                <a:latin typeface="Aptos"/>
              </a:rPr>
              <a:t>Solidez financiera, calidad crediticia,
cobertura y rentabilidad superior.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65631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865631"/>
            <a:ext cx="91440" cy="1874519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25260"/>
            <a:ext cx="1188720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C7884"/>
                </a:solidFill>
                <a:latin typeface="Aptos"/>
              </a:rPr>
              <a:t>CLUSTER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639"/>
            <a:ext cx="452628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22F52"/>
                </a:solidFill>
                <a:latin typeface="Aptos"/>
              </a:rPr>
              <a:t>ESTABLE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71470"/>
            <a:ext cx="4434840" cy="477054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250">
                <a:solidFill>
                  <a:srgbClr val="27303A"/>
                </a:solidFill>
                <a:latin typeface="Aptos"/>
              </a:rPr>
              <a:t>Estabilidad, crecimiento moderado
y eficiencia relativa.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05911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105911"/>
            <a:ext cx="91440" cy="1874519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65540"/>
            <a:ext cx="1188720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C7884"/>
                </a:solidFill>
                <a:latin typeface="Aptos"/>
              </a:rPr>
              <a:t>CLUSTER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1919"/>
            <a:ext cx="452628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22F52"/>
                </a:solidFill>
                <a:latin typeface="Aptos"/>
              </a:rPr>
              <a:t>ALTA CAPITALIZACIÓN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11750"/>
            <a:ext cx="4434840" cy="477054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250">
                <a:solidFill>
                  <a:srgbClr val="27303A"/>
                </a:solidFill>
                <a:latin typeface="Aptos"/>
              </a:rPr>
              <a:t>Mayor capitalización, liquidez y dinamismo
de depósitos; mayores gastos y morosidad.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05911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105911"/>
            <a:ext cx="91440" cy="1874519"/>
          </a:xfrm>
          <a:prstGeom prst="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265540"/>
            <a:ext cx="1188720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6C7884"/>
                </a:solidFill>
                <a:latin typeface="Aptos"/>
              </a:rPr>
              <a:t>CLUSTER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71919"/>
            <a:ext cx="4526280" cy="3847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22F52"/>
                </a:solidFill>
                <a:latin typeface="Aptos"/>
              </a:rPr>
              <a:t>MAYOR DETERIORO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111750"/>
            <a:ext cx="4434840" cy="477054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250">
                <a:solidFill>
                  <a:srgbClr val="27303A"/>
                </a:solidFill>
                <a:latin typeface="Aptos"/>
              </a:rPr>
              <a:t>Mayor morosidad, menor rentabilidad
y menor crecimiento relativo.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6192080"/>
            <a:ext cx="982980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22F52"/>
                </a:solidFill>
                <a:latin typeface="Aptos"/>
              </a:rPr>
              <a:t>Orden financiero relativo:   C3  →  C0  →  C1  →  C2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48221"/>
            <a:ext cx="228600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3A643"/>
                </a:solidFill>
                <a:latin typeface="Aptos"/>
              </a:rPr>
              <a:t>09 ·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2676"/>
            <a:ext cx="10241280" cy="43088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22F52"/>
                </a:solidFill>
                <a:latin typeface="Aptos"/>
              </a:rPr>
              <a:t>Evolución temporal: persistencia y transiciones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74190"/>
            <a:ext cx="6537960" cy="4160520"/>
          </a:xfrm>
          <a:prstGeom prst="round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3311495"/>
            <a:ext cx="4983480" cy="40011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C7884"/>
                </a:solidFill>
                <a:latin typeface="Aptos"/>
              </a:rPr>
              <a:t>INSERTAR HEATMAP TEMPORAL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813302"/>
            <a:ext cx="4983480" cy="27432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6C7884"/>
                </a:solidFill>
                <a:latin typeface="Aptos"/>
              </a:rPr>
              <a:t>Entidad × Año-Mes × 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806807"/>
            <a:ext cx="3657600" cy="346249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122F52"/>
                </a:solidFill>
                <a:latin typeface="Aptos"/>
              </a:rPr>
              <a:t>TRANSICIONES OBSERVADAS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322830"/>
            <a:ext cx="3657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2382600"/>
            <a:ext cx="96012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3A643"/>
                </a:solidFill>
                <a:latin typeface="Aptos"/>
              </a:rPr>
              <a:t>D-Miro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386838"/>
            <a:ext cx="2240280" cy="2468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7303A"/>
                </a:solidFill>
                <a:latin typeface="Aptos"/>
              </a:rPr>
              <a:t>C1 → C2 → C1 → C2 → C1 → C0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962910"/>
            <a:ext cx="3657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3022681"/>
            <a:ext cx="96012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3A643"/>
                </a:solidFill>
                <a:latin typeface="Aptos"/>
              </a:rPr>
              <a:t>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026918"/>
            <a:ext cx="2240280" cy="2468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7303A"/>
                </a:solidFill>
                <a:latin typeface="Aptos"/>
              </a:rPr>
              <a:t>C0 → C2 → C0 | C0 → C1 → C0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602989"/>
            <a:ext cx="3657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3662760"/>
            <a:ext cx="96012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3A643"/>
                </a:solidFill>
                <a:latin typeface="Aptos"/>
              </a:rPr>
              <a:t>Diners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666997"/>
            <a:ext cx="2240280" cy="2468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7303A"/>
                </a:solidFill>
                <a:latin typeface="Aptos"/>
              </a:rPr>
              <a:t>C1 ↔ C0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4243070"/>
            <a:ext cx="3657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4302841"/>
            <a:ext cx="96012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3A643"/>
                </a:solidFill>
                <a:latin typeface="Aptos"/>
              </a:rPr>
              <a:t>Codesarrollo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307078"/>
            <a:ext cx="2240280" cy="2468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7303A"/>
                </a:solidFill>
                <a:latin typeface="Aptos"/>
              </a:rPr>
              <a:t>C0 → C1 → C0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83150"/>
            <a:ext cx="36576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4942921"/>
            <a:ext cx="960120" cy="24622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3A643"/>
                </a:solidFill>
                <a:latin typeface="Aptos"/>
              </a:rPr>
              <a:t>Delbank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947158"/>
            <a:ext cx="2240280" cy="2468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7303A"/>
                </a:solidFill>
                <a:latin typeface="Aptos"/>
              </a:rPr>
              <a:t>C1 → C0 → C1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43319"/>
            <a:ext cx="10561320" cy="31547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122F52"/>
                </a:solidFill>
                <a:latin typeface="Aptos"/>
              </a:rPr>
              <a:t>Hallazgo → la mayoría de entidades mantiene su perfil; los cambios se concentran en pocas instituciones.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82296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48221"/>
            <a:ext cx="228600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D3A643"/>
                </a:solidFill>
                <a:latin typeface="Aptos"/>
              </a:rPr>
              <a:t>10 ·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2676"/>
            <a:ext cx="10241280" cy="43088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22F52"/>
                </a:solidFill>
                <a:latin typeface="Aptos"/>
              </a:rPr>
              <a:t>Conclusiones finales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54150"/>
            <a:ext cx="10972800" cy="13716"/>
          </a:xfrm>
          <a:prstGeom prst="rect">
            <a:avLst/>
          </a:prstGeom>
          <a:solidFill>
            <a:srgbClr val="EDF3F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74190"/>
            <a:ext cx="566928" cy="566928"/>
          </a:xfrm>
          <a:prstGeom prst="round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103"/>
            <a:ext cx="566928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57240"/>
            <a:ext cx="251460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2F52"/>
                </a:solidFill>
                <a:latin typeface="Aptos"/>
              </a:rPr>
              <a:t>Cuatro perfiles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870312"/>
            <a:ext cx="704088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>
                <a:solidFill>
                  <a:srgbClr val="27303A"/>
                </a:solidFill>
                <a:latin typeface="Aptos"/>
              </a:rPr>
              <a:t>El clustering identifica estructuras financieras diferenciadas e interpretables.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98318"/>
            <a:ext cx="566928" cy="566928"/>
          </a:xfrm>
          <a:prstGeom prst="round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44231"/>
            <a:ext cx="566928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81368"/>
            <a:ext cx="251460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2F52"/>
                </a:solidFill>
                <a:latin typeface="Aptos"/>
              </a:rPr>
              <a:t>PC11 + K=4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894440"/>
            <a:ext cx="704088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>
                <a:solidFill>
                  <a:srgbClr val="27303A"/>
                </a:solidFill>
                <a:latin typeface="Aptos"/>
              </a:rPr>
              <a:t>La solución combina calidad, estabilidad, tamaño razonable e interpretación financiera.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22446"/>
            <a:ext cx="566928" cy="566928"/>
          </a:xfrm>
          <a:prstGeom prst="round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968359"/>
            <a:ext cx="566928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05496"/>
            <a:ext cx="251460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2F52"/>
                </a:solidFill>
                <a:latin typeface="Aptos"/>
              </a:rPr>
              <a:t>Perfil financiero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918568"/>
            <a:ext cx="704088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>
                <a:solidFill>
                  <a:srgbClr val="27303A"/>
                </a:solidFill>
                <a:latin typeface="Aptos"/>
              </a:rPr>
              <a:t>Los indicadores originales permiten traducir los clusters a características económicas.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574"/>
            <a:ext cx="566928" cy="566928"/>
          </a:xfrm>
          <a:prstGeom prst="round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992487"/>
            <a:ext cx="566928" cy="238527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29624"/>
            <a:ext cx="2514600" cy="353943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22F52"/>
                </a:solidFill>
                <a:latin typeface="Aptos"/>
              </a:rPr>
              <a:t>Persistencia temporal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42696"/>
            <a:ext cx="7040880" cy="29238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1300">
                <a:solidFill>
                  <a:srgbClr val="27303A"/>
                </a:solidFill>
                <a:latin typeface="Aptos"/>
              </a:rPr>
              <a:t>La mayoría mantiene su perfil; los cambios se concentran en entidades y períodos específicos.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6071870"/>
            <a:ext cx="10195560" cy="594360"/>
          </a:xfrm>
          <a:prstGeom prst="round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6101420"/>
            <a:ext cx="9646920" cy="507831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Las entidades presentan perfiles financieros diferenciados que pueden ser identificados y monitoreados mediante aprendizaje no supervisado.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7024852"/>
            <a:ext cx="5029200" cy="21544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l"/>
            <a:r>
              <a:rPr sz="800">
                <a:solidFill>
                  <a:srgbClr val="6C7884"/>
                </a:solidFill>
                <a:latin typeface="Aptos"/>
              </a:rPr>
              <a:t>MSDS 6014  ·  Matemáticas y Programación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7011861"/>
            <a:ext cx="502920" cy="22313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6C78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39750"/>
            <a:ext cx="12191695" cy="118872"/>
          </a:xfrm>
          <a:prstGeom prst="rect">
            <a:avLst/>
          </a:prstGeom>
          <a:solidFill>
            <a:srgbClr val="235B9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6894830"/>
            <a:ext cx="12191695" cy="502920"/>
          </a:xfrm>
          <a:prstGeom prst="rect">
            <a:avLst/>
          </a:prstGeom>
          <a:solidFill>
            <a:srgbClr val="122F5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4336"/>
            <a:ext cx="10332720" cy="677108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122F52"/>
                </a:solidFill>
                <a:latin typeface="Aptos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50163"/>
            <a:ext cx="10332720" cy="477054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3A643"/>
                </a:solidFill>
                <a:latin typeface="Aptos"/>
              </a:rPr>
              <a:t>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3968750"/>
            <a:ext cx="1508760" cy="45720"/>
          </a:xfrm>
          <a:prstGeom prst="rect">
            <a:avLst/>
          </a:prstGeom>
          <a:solidFill>
            <a:srgbClr val="D3A64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56031"/>
            <a:ext cx="10332720" cy="276999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6C7884"/>
                </a:solidFill>
                <a:latin typeface="Aptos"/>
              </a:rPr>
              <a:t>PCA + K-Means  |  Perfiles financieros 2021–2026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0470"/>
            <a:ext cx="10332720" cy="22860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Aptos"/>
              </a:rPr>
              <a:t>MSDS 6014 · Matemáticas y Programación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2360</Words>
  <Application>Microsoft Office PowerPoint</Application>
  <PresentationFormat>Personalizado</PresentationFormat>
  <Paragraphs>372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Darlyn Maithe Ludena Cedeno</cp:lastModifiedBy>
  <cp:revision>12</cp:revision>
  <dcterms:created xsi:type="dcterms:W3CDTF">2013-01-27T09:14:16Z</dcterms:created>
  <dcterms:modified xsi:type="dcterms:W3CDTF">2026-09-11T20:11:34Z</dcterms:modified>
  <cp:category/>
</cp:coreProperties>
</file>