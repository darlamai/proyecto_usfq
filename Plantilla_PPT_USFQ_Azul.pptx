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35B91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646920" y="0"/>
            <a:ext cx="2542032" cy="6858000"/>
          </a:xfrm>
          <a:prstGeom prst="rect">
            <a:avLst/>
          </a:prstGeom>
          <a:solidFill>
            <a:srgbClr val="122F5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012680" y="0"/>
            <a:ext cx="91440" cy="6858000"/>
          </a:xfrm>
          <a:prstGeom prst="rect">
            <a:avLst/>
          </a:prstGeom>
          <a:solidFill>
            <a:srgbClr val="D3A643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331720" cy="2331720"/>
          </a:xfrm>
          <a:prstGeom prst="roundRect">
            <a:avLst/>
          </a:prstGeom>
          <a:solidFill>
            <a:srgbClr val="FFFFFF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logo(2)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932688"/>
            <a:ext cx="2020824" cy="2020824"/>
          </a:xfrm>
          <a:prstGeom prst="rect">
            <a:avLst/>
          </a:prstGeom>
          <a:ln/>
        </p:spPr>
      </p:pic>
      <p:sp>
        <p:nvSpPr>
          <p:cNvPr id="7" name="TextBox 6"/>
          <p:cNvSpPr txBox="1"/>
          <p:nvPr/>
        </p:nvSpPr>
        <p:spPr>
          <a:xfrm>
            <a:off x="3611880" y="914400"/>
            <a:ext cx="2743200" cy="22860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D3A643"/>
                </a:solidFill>
                <a:latin typeface="Aptos"/>
              </a:rPr>
              <a:t>PROYECTO FINAL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1880" y="1353312"/>
            <a:ext cx="5669280" cy="1554480"/>
          </a:xfrm>
          <a:prstGeom prst="rect">
            <a:avLst/>
          </a:prstGeom>
          <a:noFill/>
          <a:ln/>
        </p:spPr>
        <p:txBody>
          <a:bodyPr wrap="square" anchor="t">
            <a:spAutoFit/>
          </a:bodyPr>
          <a:lstStyle/>
          <a:p>
            <a:pPr algn="l"/>
            <a:r>
              <a:rPr sz="2700" b="1" dirty="0">
                <a:solidFill>
                  <a:srgbClr val="122F52"/>
                </a:solidFill>
                <a:latin typeface="Aptos"/>
              </a:rPr>
              <a:t>Identificación de perfiles
financieros de las entidades
</a:t>
            </a:r>
            <a:r>
              <a:rPr sz="2700" b="1" dirty="0" err="1">
                <a:solidFill>
                  <a:srgbClr val="122F52"/>
                </a:solidFill>
                <a:latin typeface="Aptos"/>
              </a:rPr>
              <a:t>bancarias</a:t>
            </a:r>
            <a:r>
              <a:rPr sz="2700" b="1" dirty="0">
                <a:solidFill>
                  <a:srgbClr val="122F52"/>
                </a:solidFill>
                <a:latin typeface="Aptos"/>
              </a:rPr>
              <a:t> </a:t>
            </a:r>
            <a:r>
              <a:rPr sz="2700" b="1" dirty="0" err="1">
                <a:solidFill>
                  <a:srgbClr val="122F52"/>
                </a:solidFill>
                <a:latin typeface="Aptos"/>
              </a:rPr>
              <a:t>privadas</a:t>
            </a:r>
            <a:r>
              <a:rPr sz="2700" b="1" dirty="0">
                <a:solidFill>
                  <a:srgbClr val="122F52"/>
                </a:solidFill>
                <a:latin typeface="Aptos"/>
              </a:rPr>
              <a:t> ecuatorianas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71900" y="3266694"/>
            <a:ext cx="1051560" cy="50292"/>
          </a:xfrm>
          <a:prstGeom prst="rect">
            <a:avLst/>
          </a:prstGeom>
          <a:solidFill>
            <a:srgbClr val="D3A643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11880" y="4023360"/>
            <a:ext cx="4114800" cy="27432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27303A"/>
                </a:solidFill>
                <a:latin typeface="Aptos"/>
              </a:rPr>
              <a:t>Darlyn Ludeña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4370832"/>
            <a:ext cx="5486400" cy="27432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150" b="0">
                <a:solidFill>
                  <a:srgbClr val="6C7884"/>
                </a:solidFill>
                <a:latin typeface="Aptos"/>
              </a:rPr>
              <a:t>Maestría en Inteligencia Artificial · USFQ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4773168"/>
            <a:ext cx="5669280" cy="27432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6C7884"/>
                </a:solidFill>
                <a:latin typeface="Aptos"/>
              </a:rPr>
              <a:t>Superintendencia de Bancos · aprendizaje no supervisado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5440680"/>
            <a:ext cx="1325880" cy="45720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2300" b="1">
                <a:solidFill>
                  <a:srgbClr val="FFFFFF"/>
                </a:solidFill>
                <a:latin typeface="Aptos"/>
              </a:rPr>
              <a:t>USFQ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78440" y="6035040"/>
            <a:ext cx="1143000" cy="22860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000" b="0">
                <a:solidFill>
                  <a:srgbClr val="D2E1DF"/>
                </a:solidFill>
                <a:latin typeface="Aptos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35B91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228600"/>
            <a:ext cx="2286000" cy="18288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D3A643"/>
                </a:solidFill>
                <a:latin typeface="Aptos"/>
              </a:rPr>
              <a:t>01 · CONTEXTO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466344"/>
            <a:ext cx="10241280" cy="38404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122F52"/>
                </a:solidFill>
                <a:latin typeface="Aptos"/>
              </a:rPr>
              <a:t>Del problema financiero al análisis no supervisado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914400"/>
            <a:ext cx="10972800" cy="13716"/>
          </a:xfrm>
          <a:prstGeom prst="rect">
            <a:avLst/>
          </a:prstGeom>
          <a:solidFill>
            <a:srgbClr val="EDF3F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2377440" cy="22860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D3A643"/>
                </a:solidFill>
                <a:latin typeface="Aptos"/>
              </a:rPr>
              <a:t>PREGUNTA CENTRAL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72768"/>
            <a:ext cx="10561320" cy="777240"/>
          </a:xfrm>
          <a:prstGeom prst="rect">
            <a:avLst/>
          </a:prstGeom>
          <a:noFill/>
          <a:ln/>
        </p:spPr>
        <p:txBody>
          <a:bodyPr wrap="square" anchor="t">
            <a:spAutoFit/>
          </a:bodyPr>
          <a:lstStyle/>
          <a:p>
            <a:pPr algn="l"/>
            <a:r>
              <a:rPr sz="2300" b="1">
                <a:solidFill>
                  <a:srgbClr val="122F52"/>
                </a:solidFill>
                <a:latin typeface="Aptos"/>
              </a:rPr>
              <a:t>¿Es posible identificar perfiles financieros diferenciados entre las entidades bancarias privadas ecuatorianas y observar cómo evolucionan en el tiempo?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743200"/>
            <a:ext cx="3246120" cy="2011680"/>
          </a:xfrm>
          <a:prstGeom prst="roundRect">
            <a:avLst/>
          </a:prstGeom>
          <a:solidFill>
            <a:srgbClr val="EDF3F9"/>
          </a:solidFill>
          <a:ln>
            <a:solidFill>
              <a:srgbClr val="DCE4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2743200"/>
            <a:ext cx="82296" cy="2011680"/>
          </a:xfrm>
          <a:prstGeom prst="rect">
            <a:avLst/>
          </a:prstGeom>
          <a:solidFill>
            <a:srgbClr val="235B91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86968" y="2898648"/>
            <a:ext cx="2834639" cy="32004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22F52"/>
                </a:solidFill>
                <a:latin typeface="Aptos"/>
              </a:rPr>
              <a:t>OBJETIVO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310128"/>
            <a:ext cx="2834639" cy="1325880"/>
          </a:xfrm>
          <a:prstGeom prst="rect">
            <a:avLst/>
          </a:prstGeom>
          <a:noFill/>
          <a:ln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7303A"/>
                </a:solidFill>
                <a:latin typeface="Aptos"/>
              </a:rPr>
              <a:t>Identificar y caracterizar perfiles financieros mediante reducción de dimensionalidad y aprendizaje no supervisado.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60520" y="2743200"/>
            <a:ext cx="3246120" cy="2011680"/>
          </a:xfrm>
          <a:prstGeom prst="roundRect">
            <a:avLst/>
          </a:prstGeom>
          <a:solidFill>
            <a:srgbClr val="EDF3F9"/>
          </a:solidFill>
          <a:ln>
            <a:solidFill>
              <a:srgbClr val="DCE4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160520" y="2743200"/>
            <a:ext cx="82296" cy="2011680"/>
          </a:xfrm>
          <a:prstGeom prst="rect">
            <a:avLst/>
          </a:prstGeom>
          <a:solidFill>
            <a:srgbClr val="5B9BD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07408" y="2898648"/>
            <a:ext cx="2834639" cy="32004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22F52"/>
                </a:solidFill>
                <a:latin typeface="Aptos"/>
              </a:rPr>
              <a:t>DIMENSIONES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7408" y="3310128"/>
            <a:ext cx="2834639" cy="1325880"/>
          </a:xfrm>
          <a:prstGeom prst="rect">
            <a:avLst/>
          </a:prstGeom>
          <a:noFill/>
          <a:ln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7303A"/>
                </a:solidFill>
                <a:latin typeface="Aptos"/>
              </a:rPr>
              <a:t>Solvencia · calidad de activos · riesgo crediticio · rentabilidad · eficiencia · liquidez e intermediación.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80960" y="2743200"/>
            <a:ext cx="3246120" cy="2011680"/>
          </a:xfrm>
          <a:prstGeom prst="roundRect">
            <a:avLst/>
          </a:prstGeom>
          <a:solidFill>
            <a:srgbClr val="EDF3F9"/>
          </a:solidFill>
          <a:ln>
            <a:solidFill>
              <a:srgbClr val="DCE4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680960" y="2743200"/>
            <a:ext cx="82296" cy="2011680"/>
          </a:xfrm>
          <a:prstGeom prst="rect">
            <a:avLst/>
          </a:prstGeom>
          <a:solidFill>
            <a:srgbClr val="D3A643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27848" y="2898648"/>
            <a:ext cx="2834639" cy="32004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22F52"/>
                </a:solidFill>
                <a:latin typeface="Aptos"/>
              </a:rPr>
              <a:t>PREGUNTA TEMPORAL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27848" y="3310128"/>
            <a:ext cx="2834639" cy="1325880"/>
          </a:xfrm>
          <a:prstGeom prst="rect">
            <a:avLst/>
          </a:prstGeom>
          <a:noFill/>
          <a:ln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7303A"/>
                </a:solidFill>
                <a:latin typeface="Aptos"/>
              </a:rPr>
              <a:t>¿Los perfiles permanecen estables o las entidades cambian de grupo durante 2021–2026?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257800"/>
            <a:ext cx="10515600" cy="45720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122F52"/>
                </a:solidFill>
                <a:latin typeface="Aptos"/>
              </a:rPr>
              <a:t>Aprendizaje no supervisado → los grupos se descubren a partir de las características financieras observadas.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6510528"/>
            <a:ext cx="5029200" cy="164592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6C7884"/>
                </a:solidFill>
                <a:latin typeface="Aptos"/>
              </a:rPr>
              <a:t>MSDS 6014  ·  Matemáticas y Programación 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92240"/>
            <a:ext cx="502920" cy="18288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r"/>
            <a:r>
              <a:rPr sz="850" b="1">
                <a:solidFill>
                  <a:srgbClr val="6C7884"/>
                </a:solidFill>
                <a:latin typeface="Apto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35B91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228600"/>
            <a:ext cx="2286000" cy="18288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D3A643"/>
                </a:solidFill>
                <a:latin typeface="Aptos"/>
              </a:rPr>
              <a:t>02 ·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466344"/>
            <a:ext cx="10241280" cy="38404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122F52"/>
                </a:solidFill>
                <a:latin typeface="Aptos"/>
              </a:rPr>
              <a:t>Datos y construcción del dataset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914400"/>
            <a:ext cx="10972800" cy="13716"/>
          </a:xfrm>
          <a:prstGeom prst="rect">
            <a:avLst/>
          </a:prstGeom>
          <a:solidFill>
            <a:srgbClr val="EDF3F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40080" y="1325880"/>
            <a:ext cx="2423160" cy="1188720"/>
          </a:xfrm>
          <a:prstGeom prst="roundRect">
            <a:avLst/>
          </a:prstGeom>
          <a:solidFill>
            <a:srgbClr val="235B91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49808" y="1508760"/>
            <a:ext cx="2203704" cy="36576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2300" b="1">
                <a:solidFill>
                  <a:srgbClr val="FFFFFF"/>
                </a:solidFill>
                <a:latin typeface="Aptos"/>
              </a:rPr>
              <a:t>2021–2026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920240"/>
            <a:ext cx="2148840" cy="310896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Aptos"/>
              </a:rPr>
              <a:t>Período de análisis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0" y="1325880"/>
            <a:ext cx="2423160" cy="1188720"/>
          </a:xfrm>
          <a:prstGeom prst="roundRect">
            <a:avLst/>
          </a:prstGeom>
          <a:solidFill>
            <a:srgbClr val="5B9BD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767328" y="1508760"/>
            <a:ext cx="2203704" cy="36576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2300" b="1">
                <a:solidFill>
                  <a:srgbClr val="FFFFFF"/>
                </a:solidFill>
                <a:latin typeface="Aptos"/>
              </a:rPr>
              <a:t>1.207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4760" y="1920240"/>
            <a:ext cx="2148840" cy="310896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Aptos"/>
              </a:rPr>
              <a:t>Observaciones banco–año–mes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0" y="1325880"/>
            <a:ext cx="2423160" cy="1188720"/>
          </a:xfrm>
          <a:prstGeom prst="roundRect">
            <a:avLst/>
          </a:prstGeom>
          <a:solidFill>
            <a:srgbClr val="D3A643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84848" y="1508760"/>
            <a:ext cx="2203704" cy="36576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2300" b="1">
                <a:solidFill>
                  <a:srgbClr val="FFFFFF"/>
                </a:solidFill>
                <a:latin typeface="Aptos"/>
              </a:rPr>
              <a:t>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2280" y="1920240"/>
            <a:ext cx="2148840" cy="310896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Aptos"/>
              </a:rPr>
              <a:t>Indicadores utilizados en PCA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92640" y="1325880"/>
            <a:ext cx="2423160" cy="1188720"/>
          </a:xfrm>
          <a:prstGeom prst="roundRect">
            <a:avLst/>
          </a:prstGeom>
          <a:solidFill>
            <a:srgbClr val="122F5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802367" y="1508760"/>
            <a:ext cx="2203704" cy="36576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23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29800" y="1920240"/>
            <a:ext cx="2148840" cy="310896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Aptos"/>
              </a:rPr>
              <a:t>Fuentes integradas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971800"/>
            <a:ext cx="3657600" cy="32004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122F52"/>
                </a:solidFill>
                <a:latin typeface="Aptos"/>
              </a:rPr>
              <a:t>Integración de información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520440"/>
            <a:ext cx="4892040" cy="530352"/>
          </a:xfrm>
          <a:prstGeom prst="roundRect">
            <a:avLst/>
          </a:prstGeom>
          <a:solidFill>
            <a:srgbClr val="EDF3F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68680" y="3593592"/>
            <a:ext cx="1508760" cy="22860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D3A643"/>
                </a:solidFill>
                <a:latin typeface="Aptos"/>
              </a:rPr>
              <a:t>INDICADORES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31720" y="3584448"/>
            <a:ext cx="2880360" cy="27432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27303A"/>
                </a:solidFill>
                <a:latin typeface="Aptos"/>
              </a:rPr>
              <a:t>Indicadores financieros publicados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233672"/>
            <a:ext cx="4892040" cy="530352"/>
          </a:xfrm>
          <a:prstGeom prst="roundRect">
            <a:avLst/>
          </a:prstGeom>
          <a:solidFill>
            <a:srgbClr val="EDF3F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8680" y="4306824"/>
            <a:ext cx="1508760" cy="22860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D3A643"/>
                </a:solidFill>
                <a:latin typeface="Aptos"/>
              </a:rPr>
              <a:t>COMPOS CART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20" y="4297680"/>
            <a:ext cx="2880360" cy="27432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27303A"/>
                </a:solidFill>
                <a:latin typeface="Aptos"/>
              </a:rPr>
              <a:t>Composición y calidad de cartera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946904"/>
            <a:ext cx="4892040" cy="530352"/>
          </a:xfrm>
          <a:prstGeom prst="roundRect">
            <a:avLst/>
          </a:prstGeom>
          <a:solidFill>
            <a:srgbClr val="EDF3F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68680" y="5020056"/>
            <a:ext cx="1508760" cy="22860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050" b="1">
                <a:solidFill>
                  <a:srgbClr val="D3A643"/>
                </a:solidFill>
                <a:latin typeface="Aptos"/>
              </a:rPr>
              <a:t>BALANCE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5010912"/>
            <a:ext cx="2880360" cy="27432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27303A"/>
                </a:solidFill>
                <a:latin typeface="Aptos"/>
              </a:rPr>
              <a:t>Cuentas para crecimiento interanual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89320" y="2971800"/>
            <a:ext cx="5166360" cy="2240280"/>
          </a:xfrm>
          <a:prstGeom prst="roundRect">
            <a:avLst/>
          </a:prstGeom>
          <a:solidFill>
            <a:srgbClr val="F7F5EE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263640" y="3218688"/>
            <a:ext cx="2926080" cy="27432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22F52"/>
                </a:solidFill>
                <a:latin typeface="Aptos"/>
              </a:rPr>
              <a:t>FEATURE ENGINEERING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3640" y="3657600"/>
            <a:ext cx="4526280" cy="1234440"/>
          </a:xfrm>
          <a:prstGeom prst="rect">
            <a:avLst/>
          </a:prstGeom>
          <a:noFill/>
          <a:ln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27303A"/>
                </a:solidFill>
                <a:latin typeface="Aptos"/>
              </a:rPr>
              <a:t>• Indicadores relativos de composición de cartera
• Crecimiento interanual de activos, cartera, depósitos, patrimonio, fondos e inversiones
• Variables comparables entre entidades de diferente tamaño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6510528"/>
            <a:ext cx="5029200" cy="164592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6C7884"/>
                </a:solidFill>
                <a:latin typeface="Aptos"/>
              </a:rPr>
              <a:t>MSDS 6014  ·  Matemáticas y Programación IA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92240"/>
            <a:ext cx="502920" cy="18288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r"/>
            <a:r>
              <a:rPr sz="850" b="1">
                <a:solidFill>
                  <a:srgbClr val="6C7884"/>
                </a:solidFill>
                <a:latin typeface="Apto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35B91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228600"/>
            <a:ext cx="2286000" cy="18288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D3A643"/>
                </a:solidFill>
                <a:latin typeface="Aptos"/>
              </a:rPr>
              <a:t>03 · PREPROCESAMIENTO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466344"/>
            <a:ext cx="10241280" cy="38404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122F52"/>
                </a:solidFill>
                <a:latin typeface="Aptos"/>
              </a:rPr>
              <a:t>Preprocesamiento, limpieza y calidad de datos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914400"/>
            <a:ext cx="10972800" cy="13716"/>
          </a:xfrm>
          <a:prstGeom prst="rect">
            <a:avLst/>
          </a:prstGeom>
          <a:solidFill>
            <a:srgbClr val="EDF3F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2926080" cy="27432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122F52"/>
                </a:solidFill>
                <a:latin typeface="Aptos"/>
              </a:rPr>
              <a:t>PIPELINE DE PREPARACIÓN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37360"/>
            <a:ext cx="1874519" cy="658368"/>
          </a:xfrm>
          <a:prstGeom prst="roundRect">
            <a:avLst/>
          </a:prstGeom>
          <a:solidFill>
            <a:srgbClr val="EDF3F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19" y="1901952"/>
            <a:ext cx="320040" cy="256032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D3A643"/>
                </a:solidFill>
                <a:latin typeface="Apto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" y="1865376"/>
            <a:ext cx="1298448" cy="310896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122F52"/>
                </a:solidFill>
                <a:latin typeface="Aptos"/>
              </a:rPr>
              <a:t>Integración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52928" y="1737360"/>
            <a:ext cx="1874519" cy="658368"/>
          </a:xfrm>
          <a:prstGeom prst="roundRect">
            <a:avLst/>
          </a:prstGeom>
          <a:solidFill>
            <a:srgbClr val="EDF3F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944368" y="1901952"/>
            <a:ext cx="320040" cy="256032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D3A643"/>
                </a:solidFill>
                <a:latin typeface="Apto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82696" y="1865376"/>
            <a:ext cx="1298448" cy="310896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122F52"/>
                </a:solidFill>
                <a:latin typeface="Aptos"/>
              </a:rPr>
              <a:t>Homogeneización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65776" y="1737360"/>
            <a:ext cx="1874519" cy="658368"/>
          </a:xfrm>
          <a:prstGeom prst="roundRect">
            <a:avLst/>
          </a:prstGeom>
          <a:solidFill>
            <a:srgbClr val="EDF3F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157216" y="1901952"/>
            <a:ext cx="320040" cy="256032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D3A643"/>
                </a:solidFill>
                <a:latin typeface="Apto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95544" y="1865376"/>
            <a:ext cx="1298448" cy="310896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122F52"/>
                </a:solidFill>
                <a:latin typeface="Aptos"/>
              </a:rPr>
              <a:t>Faltantes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78624" y="1737360"/>
            <a:ext cx="1874519" cy="658368"/>
          </a:xfrm>
          <a:prstGeom prst="roundRect">
            <a:avLst/>
          </a:prstGeom>
          <a:solidFill>
            <a:srgbClr val="EDF3F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370064" y="1901952"/>
            <a:ext cx="320040" cy="256032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D3A643"/>
                </a:solidFill>
                <a:latin typeface="Apto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08392" y="1865376"/>
            <a:ext cx="1298448" cy="310896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122F52"/>
                </a:solidFill>
                <a:latin typeface="Aptos"/>
              </a:rPr>
              <a:t>Duplicados / formatos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491472" y="1737360"/>
            <a:ext cx="1874519" cy="658368"/>
          </a:xfrm>
          <a:prstGeom prst="roundRect">
            <a:avLst/>
          </a:prstGeom>
          <a:solidFill>
            <a:srgbClr val="EDF3F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582911" y="1901952"/>
            <a:ext cx="320040" cy="256032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D3A643"/>
                </a:solidFill>
                <a:latin typeface="Aptos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21240" y="1865376"/>
            <a:ext cx="1298448" cy="310896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122F52"/>
                </a:solidFill>
                <a:latin typeface="Aptos"/>
              </a:rPr>
              <a:t>Feature engineering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2880360"/>
            <a:ext cx="5074920" cy="2148840"/>
          </a:xfrm>
          <a:prstGeom prst="roundRect">
            <a:avLst/>
          </a:prstGeom>
          <a:solidFill>
            <a:srgbClr val="EDF3F9"/>
          </a:solidFill>
          <a:ln>
            <a:solidFill>
              <a:srgbClr val="DCE4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40080" y="2880360"/>
            <a:ext cx="82296" cy="2148840"/>
          </a:xfrm>
          <a:prstGeom prst="rect">
            <a:avLst/>
          </a:prstGeom>
          <a:solidFill>
            <a:srgbClr val="235B91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86968" y="3035808"/>
            <a:ext cx="4663440" cy="32004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22F52"/>
                </a:solidFill>
                <a:latin typeface="Aptos"/>
              </a:rPr>
              <a:t>DECISIONES DE LIMPIEZA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" y="3447288"/>
            <a:ext cx="4663440" cy="1463040"/>
          </a:xfrm>
          <a:prstGeom prst="rect">
            <a:avLst/>
          </a:prstGeom>
          <a:noFill/>
          <a:ln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27303A"/>
                </a:solidFill>
                <a:latin typeface="Aptos"/>
              </a:rPr>
              <a:t>• Variables no comparables eliminadas.
• Variables redundantes eliminadas mediante correlación.
• Revisión de faltantes y consistencia.
• Outliers detectados mediante IQR.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80760" y="2880360"/>
            <a:ext cx="5074920" cy="2148840"/>
          </a:xfrm>
          <a:prstGeom prst="roundRect">
            <a:avLst/>
          </a:prstGeom>
          <a:solidFill>
            <a:srgbClr val="EDF3F9"/>
          </a:solidFill>
          <a:ln>
            <a:solidFill>
              <a:srgbClr val="DCE4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080760" y="2880360"/>
            <a:ext cx="82296" cy="2148840"/>
          </a:xfrm>
          <a:prstGeom prst="rect">
            <a:avLst/>
          </a:prstGeom>
          <a:solidFill>
            <a:srgbClr val="D3A643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327648" y="3035808"/>
            <a:ext cx="4663440" cy="32004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22F52"/>
                </a:solidFill>
                <a:latin typeface="Aptos"/>
              </a:rPr>
              <a:t>CRITERIO SOBRE OUTLIERS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27648" y="3447288"/>
            <a:ext cx="4663440" cy="1463040"/>
          </a:xfrm>
          <a:prstGeom prst="rect">
            <a:avLst/>
          </a:prstGeom>
          <a:noFill/>
          <a:ln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27303A"/>
                </a:solidFill>
                <a:latin typeface="Aptos"/>
              </a:rPr>
              <a:t>Los valores extremos fueron detectados pero no eliminados automáticamente, porque pueden representar situaciones financieras reales y modificar la estructura que identifica el clustering.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5440680"/>
            <a:ext cx="10515600" cy="38404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22F52"/>
                </a:solidFill>
                <a:latin typeface="Aptos"/>
              </a:rPr>
              <a:t>Resultado → base analítica depurada y comparable entre entidades y períodos.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6510528"/>
            <a:ext cx="5029200" cy="164592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6C7884"/>
                </a:solidFill>
                <a:latin typeface="Aptos"/>
              </a:rPr>
              <a:t>MSDS 6014  ·  Matemáticas y Programación IA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92240"/>
            <a:ext cx="502920" cy="18288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r"/>
            <a:r>
              <a:rPr sz="850" b="1">
                <a:solidFill>
                  <a:srgbClr val="6C7884"/>
                </a:solidFill>
                <a:latin typeface="Apto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35B91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228600"/>
            <a:ext cx="2286000" cy="18288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D3A643"/>
                </a:solidFill>
                <a:latin typeface="Aptos"/>
              </a:rPr>
              <a:t>04 · 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466344"/>
            <a:ext cx="10241280" cy="38404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122F52"/>
                </a:solidFill>
                <a:latin typeface="Aptos"/>
              </a:rPr>
              <a:t>EDA: entender la estructura antes del PCA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914400"/>
            <a:ext cx="10972800" cy="13716"/>
          </a:xfrm>
          <a:prstGeom prst="rect">
            <a:avLst/>
          </a:prstGeom>
          <a:solidFill>
            <a:srgbClr val="EDF3F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40080" y="1234440"/>
            <a:ext cx="5120640" cy="3383280"/>
          </a:xfrm>
          <a:prstGeom prst="roundRect">
            <a:avLst/>
          </a:prstGeom>
          <a:solidFill>
            <a:srgbClr val="EDF3F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1560" y="2240280"/>
            <a:ext cx="4297680" cy="82296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6C7884"/>
                </a:solidFill>
                <a:latin typeface="Aptos"/>
              </a:rPr>
              <a:t>INSERTAR MATRIZ DE
CORRELACIONES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80760" y="1234440"/>
            <a:ext cx="5074920" cy="3383280"/>
          </a:xfrm>
          <a:prstGeom prst="roundRect">
            <a:avLst/>
          </a:prstGeom>
          <a:solidFill>
            <a:srgbClr val="EDF3F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46520" y="2240280"/>
            <a:ext cx="4343400" cy="82296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6C7884"/>
                </a:solidFill>
                <a:latin typeface="Aptos"/>
              </a:rPr>
              <a:t>INSERTAR DISTRIBUCIONES /
OUTLIERS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80"/>
            <a:ext cx="2743200" cy="27432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D3A643"/>
                </a:solidFill>
                <a:latin typeface="Aptos"/>
              </a:rPr>
              <a:t>¿Qué aportó el EDA?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4919472"/>
            <a:ext cx="8229600" cy="685800"/>
          </a:xfrm>
          <a:prstGeom prst="rect">
            <a:avLst/>
          </a:prstGeom>
          <a:noFill/>
          <a:ln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122F52"/>
                </a:solidFill>
                <a:latin typeface="Aptos"/>
              </a:rPr>
              <a:t>Correlaciones elevadas → redundancia
Valores extremos → interpretación, no eliminación mecánica
Escalas diferentes → estandarización antes de PCA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510528"/>
            <a:ext cx="5029200" cy="164592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6C7884"/>
                </a:solidFill>
                <a:latin typeface="Aptos"/>
              </a:rPr>
              <a:t>MSDS 6014  ·  Matemáticas y Programación 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92240"/>
            <a:ext cx="502920" cy="18288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r"/>
            <a:r>
              <a:rPr sz="850" b="1">
                <a:solidFill>
                  <a:srgbClr val="6C7884"/>
                </a:solidFill>
                <a:latin typeface="Apto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35B91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228600"/>
            <a:ext cx="2286000" cy="18288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D3A643"/>
                </a:solidFill>
                <a:latin typeface="Aptos"/>
              </a:rPr>
              <a:t>05 · PCA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466344"/>
            <a:ext cx="10241280" cy="38404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122F52"/>
                </a:solidFill>
                <a:latin typeface="Aptos"/>
              </a:rPr>
              <a:t>PCA mediante SVD: de 24 indicadores a una representación compacta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914400"/>
            <a:ext cx="10972800" cy="13716"/>
          </a:xfrm>
          <a:prstGeom prst="rect">
            <a:avLst/>
          </a:prstGeom>
          <a:solidFill>
            <a:srgbClr val="EDF3F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40080" y="1325880"/>
            <a:ext cx="3794760" cy="2423160"/>
          </a:xfrm>
          <a:prstGeom prst="roundRect">
            <a:avLst/>
          </a:prstGeom>
          <a:solidFill>
            <a:srgbClr val="122F5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737360"/>
            <a:ext cx="3246120" cy="50292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ptos"/>
              </a:rPr>
              <a:t>Z = UΣVᵀ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3246120" cy="27432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97D7D3"/>
                </a:solidFill>
                <a:latin typeface="Aptos"/>
              </a:rPr>
              <a:t>Estandarización + SVD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80360"/>
            <a:ext cx="3246120" cy="32004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T = ZV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1325880"/>
            <a:ext cx="6446520" cy="3154680"/>
          </a:xfrm>
          <a:prstGeom prst="roundRect">
            <a:avLst/>
          </a:prstGeom>
          <a:solidFill>
            <a:srgbClr val="EDF3F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212080" y="2057400"/>
            <a:ext cx="5440680" cy="68580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6C7884"/>
                </a:solidFill>
                <a:latin typeface="Aptos"/>
              </a:rPr>
              <a:t>INSERTAR GRÁFICO DE
VARIANZA EXPLICADA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3154680"/>
            <a:ext cx="5440680" cy="347472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235B91"/>
                </a:solidFill>
                <a:latin typeface="Aptos"/>
              </a:rPr>
              <a:t>PC11 ≈ 80%   |   PC15 ≈ 91%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297680"/>
            <a:ext cx="10515600" cy="50292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27303A"/>
                </a:solidFill>
                <a:latin typeface="Aptos"/>
              </a:rPr>
              <a:t>Las cargas permiten relacionar cada componente con los indicadores financieros originales.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510528"/>
            <a:ext cx="5029200" cy="164592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6C7884"/>
                </a:solidFill>
                <a:latin typeface="Aptos"/>
              </a:rPr>
              <a:t>MSDS 6014  ·  Matemáticas y Programación 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92240"/>
            <a:ext cx="502920" cy="18288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r"/>
            <a:r>
              <a:rPr sz="850" b="1">
                <a:solidFill>
                  <a:srgbClr val="6C7884"/>
                </a:solidFill>
                <a:latin typeface="Apto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35B91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228600"/>
            <a:ext cx="2286000" cy="18288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D3A643"/>
                </a:solidFill>
                <a:latin typeface="Aptos"/>
              </a:rPr>
              <a:t>06 · SELECCIÓN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466344"/>
            <a:ext cx="10241280" cy="38404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122F52"/>
                </a:solidFill>
                <a:latin typeface="Aptos"/>
              </a:rPr>
              <a:t>PC11 vs. PC15: más varianza no implica mejor clustering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914400"/>
            <a:ext cx="10972800" cy="13716"/>
          </a:xfrm>
          <a:prstGeom prst="rect">
            <a:avLst/>
          </a:prstGeom>
          <a:solidFill>
            <a:srgbClr val="EDF3F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3200400" cy="32004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122F52"/>
                </a:solidFill>
                <a:latin typeface="Aptos"/>
              </a:rPr>
              <a:t>Comparación para K = 2–10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737360"/>
            <a:ext cx="4160520" cy="530352"/>
          </a:xfrm>
          <a:prstGeom prst="rect">
            <a:avLst/>
          </a:prstGeom>
          <a:solidFill>
            <a:srgbClr val="122F5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856231"/>
            <a:ext cx="4069080" cy="22860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250" b="1">
                <a:solidFill>
                  <a:srgbClr val="FFFFFF"/>
                </a:solidFill>
                <a:latin typeface="Aptos"/>
              </a:rPr>
              <a:t>Criterio</a:t>
            </a:r>
          </a:p>
        </p:txBody>
      </p:sp>
      <p:sp>
        <p:nvSpPr>
          <p:cNvPr id="9" name="Rectangle 8"/>
          <p:cNvSpPr/>
          <p:nvPr/>
        </p:nvSpPr>
        <p:spPr>
          <a:xfrm>
            <a:off x="4800600" y="1737360"/>
            <a:ext cx="2880360" cy="530352"/>
          </a:xfrm>
          <a:prstGeom prst="rect">
            <a:avLst/>
          </a:prstGeom>
          <a:solidFill>
            <a:srgbClr val="122F5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46320" y="1856231"/>
            <a:ext cx="2788920" cy="22860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250" b="1">
                <a:solidFill>
                  <a:srgbClr val="FFFFFF"/>
                </a:solidFill>
                <a:latin typeface="Aptos"/>
              </a:rPr>
              <a:t>PC11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59" y="1737360"/>
            <a:ext cx="2880360" cy="530352"/>
          </a:xfrm>
          <a:prstGeom prst="rect">
            <a:avLst/>
          </a:prstGeom>
          <a:solidFill>
            <a:srgbClr val="122F5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26679" y="1856231"/>
            <a:ext cx="2788920" cy="22860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250" b="1">
                <a:solidFill>
                  <a:srgbClr val="FFFFFF"/>
                </a:solidFill>
                <a:latin typeface="Aptos"/>
              </a:rPr>
              <a:t>PC15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331720"/>
            <a:ext cx="4160520" cy="566928"/>
          </a:xfrm>
          <a:prstGeom prst="rect">
            <a:avLst/>
          </a:prstGeom>
          <a:solidFill>
            <a:srgbClr val="F7F5EE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5800" y="2423160"/>
            <a:ext cx="4069080" cy="32004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250" b="1">
                <a:solidFill>
                  <a:srgbClr val="122F52"/>
                </a:solidFill>
                <a:latin typeface="Aptos"/>
              </a:rPr>
              <a:t>Varianza acumulada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00600" y="2331720"/>
            <a:ext cx="28803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846320" y="2423160"/>
            <a:ext cx="2788920" cy="32004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250" b="0">
                <a:solidFill>
                  <a:srgbClr val="27303A"/>
                </a:solidFill>
                <a:latin typeface="Aptos"/>
              </a:rPr>
              <a:t>≈ 80%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59" y="2331720"/>
            <a:ext cx="28803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26679" y="2423160"/>
            <a:ext cx="2788920" cy="32004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250" b="0">
                <a:solidFill>
                  <a:srgbClr val="27303A"/>
                </a:solidFill>
                <a:latin typeface="Aptos"/>
              </a:rPr>
              <a:t>≈ 91%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2990087"/>
            <a:ext cx="4160520" cy="566928"/>
          </a:xfrm>
          <a:prstGeom prst="rect">
            <a:avLst/>
          </a:prstGeom>
          <a:solidFill>
            <a:srgbClr val="F7F5EE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" y="3081527"/>
            <a:ext cx="4069080" cy="32004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250" b="1">
                <a:solidFill>
                  <a:srgbClr val="122F52"/>
                </a:solidFill>
                <a:latin typeface="Aptos"/>
              </a:rPr>
              <a:t>Silhouette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00600" y="2990087"/>
            <a:ext cx="28803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846320" y="3081527"/>
            <a:ext cx="2788920" cy="32004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250" b="0">
                <a:solidFill>
                  <a:srgbClr val="27303A"/>
                </a:solidFill>
                <a:latin typeface="Aptos"/>
              </a:rPr>
              <a:t>Mejor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80959" y="2990087"/>
            <a:ext cx="28803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726679" y="3081527"/>
            <a:ext cx="2788920" cy="32004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250" b="0">
                <a:solidFill>
                  <a:srgbClr val="27303A"/>
                </a:solidFill>
                <a:latin typeface="Aptos"/>
              </a:rPr>
              <a:t>Menor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3648456"/>
            <a:ext cx="4160520" cy="566928"/>
          </a:xfrm>
          <a:prstGeom prst="rect">
            <a:avLst/>
          </a:prstGeom>
          <a:solidFill>
            <a:srgbClr val="F7F5EE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85800" y="3739896"/>
            <a:ext cx="4069080" cy="32004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250" b="1">
                <a:solidFill>
                  <a:srgbClr val="122F52"/>
                </a:solidFill>
                <a:latin typeface="Aptos"/>
              </a:rPr>
              <a:t>Davies-Bouldin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00600" y="3648456"/>
            <a:ext cx="28803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846320" y="3739896"/>
            <a:ext cx="2788920" cy="32004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250" b="0">
                <a:solidFill>
                  <a:srgbClr val="27303A"/>
                </a:solidFill>
                <a:latin typeface="Aptos"/>
              </a:rPr>
              <a:t>Menor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80959" y="3648456"/>
            <a:ext cx="28803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726679" y="3739896"/>
            <a:ext cx="2788920" cy="32004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250" b="0">
                <a:solidFill>
                  <a:srgbClr val="27303A"/>
                </a:solidFill>
                <a:latin typeface="Aptos"/>
              </a:rPr>
              <a:t>Mayor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4306824"/>
            <a:ext cx="4160520" cy="566928"/>
          </a:xfrm>
          <a:prstGeom prst="rect">
            <a:avLst/>
          </a:prstGeom>
          <a:solidFill>
            <a:srgbClr val="F7F5EE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85800" y="4398264"/>
            <a:ext cx="4069080" cy="32004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250" b="1">
                <a:solidFill>
                  <a:srgbClr val="122F52"/>
                </a:solidFill>
                <a:latin typeface="Aptos"/>
              </a:rPr>
              <a:t>Calinski-Harabasz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800600" y="4306824"/>
            <a:ext cx="28803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846320" y="4398264"/>
            <a:ext cx="2788920" cy="32004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250" b="0">
                <a:solidFill>
                  <a:srgbClr val="27303A"/>
                </a:solidFill>
                <a:latin typeface="Aptos"/>
              </a:rPr>
              <a:t>Mayor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680959" y="4306824"/>
            <a:ext cx="28803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726679" y="4398264"/>
            <a:ext cx="2788920" cy="32004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250" b="0">
                <a:solidFill>
                  <a:srgbClr val="27303A"/>
                </a:solidFill>
                <a:latin typeface="Aptos"/>
              </a:rPr>
              <a:t>Menor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0080" y="5166360"/>
            <a:ext cx="9921240" cy="685800"/>
          </a:xfrm>
          <a:prstGeom prst="roundRect">
            <a:avLst/>
          </a:prstGeom>
          <a:solidFill>
            <a:srgbClr val="122F5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14400" y="5330952"/>
            <a:ext cx="2423160" cy="27432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D3A643"/>
                </a:solidFill>
                <a:latin typeface="Aptos"/>
              </a:rPr>
              <a:t>DECISIÓN → PC11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37560" y="5303520"/>
            <a:ext cx="6766560" cy="329184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350" b="1">
                <a:solidFill>
                  <a:srgbClr val="FFFFFF"/>
                </a:solidFill>
                <a:latin typeface="Aptos"/>
              </a:rPr>
              <a:t>Mejor estructura para clustering, aun conservando menos varianza que PC15.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" y="6510528"/>
            <a:ext cx="5029200" cy="164592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6C7884"/>
                </a:solidFill>
                <a:latin typeface="Aptos"/>
              </a:rPr>
              <a:t>MSDS 6014  ·  Matemáticas y Programación IA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2800" y="6492240"/>
            <a:ext cx="502920" cy="18288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r"/>
            <a:r>
              <a:rPr sz="850" b="1">
                <a:solidFill>
                  <a:srgbClr val="6C7884"/>
                </a:solidFill>
                <a:latin typeface="Apto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35B91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228600"/>
            <a:ext cx="2286000" cy="18288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D3A643"/>
                </a:solidFill>
                <a:latin typeface="Aptos"/>
              </a:rPr>
              <a:t>07 · CLUSTERING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466344"/>
            <a:ext cx="10241280" cy="38404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122F52"/>
                </a:solidFill>
                <a:latin typeface="Aptos"/>
              </a:rPr>
              <a:t>K-Means: selección de K y estabilidad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914400"/>
            <a:ext cx="10972800" cy="13716"/>
          </a:xfrm>
          <a:prstGeom prst="rect">
            <a:avLst/>
          </a:prstGeom>
          <a:solidFill>
            <a:srgbClr val="EDF3F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40080" y="1280160"/>
            <a:ext cx="3794760" cy="3246120"/>
          </a:xfrm>
          <a:prstGeom prst="roundRect">
            <a:avLst/>
          </a:prstGeom>
          <a:solidFill>
            <a:srgbClr val="EDF3F9"/>
          </a:solidFill>
          <a:ln>
            <a:solidFill>
              <a:srgbClr val="DCE4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280160"/>
            <a:ext cx="82296" cy="3246120"/>
          </a:xfrm>
          <a:prstGeom prst="rect">
            <a:avLst/>
          </a:prstGeom>
          <a:solidFill>
            <a:srgbClr val="235B91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86968" y="1435607"/>
            <a:ext cx="3383280" cy="32004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22F52"/>
                </a:solidFill>
                <a:latin typeface="Aptos"/>
              </a:rPr>
              <a:t>PROCESO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1847088"/>
            <a:ext cx="3383280" cy="2560320"/>
          </a:xfrm>
          <a:prstGeom prst="rect">
            <a:avLst/>
          </a:prstGeom>
          <a:noFill/>
          <a:ln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27303A"/>
                </a:solidFill>
                <a:latin typeface="Aptos"/>
              </a:rPr>
              <a:t>Inicializar centroides
↓
Asignar observaciones al centroide más cercano
↓
Recalcular centroides
↓
Iterar hasta convergencia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1280160"/>
            <a:ext cx="3017520" cy="1463040"/>
          </a:xfrm>
          <a:prstGeom prst="roundRect">
            <a:avLst/>
          </a:prstGeom>
          <a:solidFill>
            <a:srgbClr val="EDF3F9"/>
          </a:solidFill>
          <a:ln>
            <a:solidFill>
              <a:srgbClr val="DCE4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709160" y="1280160"/>
            <a:ext cx="82296" cy="1463040"/>
          </a:xfrm>
          <a:prstGeom prst="rect">
            <a:avLst/>
          </a:prstGeom>
          <a:solidFill>
            <a:srgbClr val="5B9BD5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956048" y="1435607"/>
            <a:ext cx="2606039" cy="32004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22F52"/>
                </a:solidFill>
                <a:latin typeface="Aptos"/>
              </a:rPr>
              <a:t>CALIDAD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6048" y="1847088"/>
            <a:ext cx="2606039" cy="777240"/>
          </a:xfrm>
          <a:prstGeom prst="rect">
            <a:avLst/>
          </a:prstGeom>
          <a:noFill/>
          <a:ln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27303A"/>
                </a:solidFill>
                <a:latin typeface="Aptos"/>
              </a:rPr>
              <a:t>Silhouette ↑
Davies-Bouldin ↓
Calinski-Harabasz ↑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79" y="1280160"/>
            <a:ext cx="3200400" cy="1463040"/>
          </a:xfrm>
          <a:prstGeom prst="roundRect">
            <a:avLst/>
          </a:prstGeom>
          <a:solidFill>
            <a:srgbClr val="EDF3F9"/>
          </a:solidFill>
          <a:ln>
            <a:solidFill>
              <a:srgbClr val="DCE4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955279" y="1280160"/>
            <a:ext cx="82296" cy="1463040"/>
          </a:xfrm>
          <a:prstGeom prst="rect">
            <a:avLst/>
          </a:prstGeom>
          <a:solidFill>
            <a:srgbClr val="D3A643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02167" y="1435607"/>
            <a:ext cx="2788920" cy="32004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22F52"/>
                </a:solidFill>
                <a:latin typeface="Aptos"/>
              </a:rPr>
              <a:t>ESTABILIDAD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2167" y="1847088"/>
            <a:ext cx="2788920" cy="777240"/>
          </a:xfrm>
          <a:prstGeom prst="rect">
            <a:avLst/>
          </a:prstGeom>
          <a:noFill/>
          <a:ln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27303A"/>
                </a:solidFill>
                <a:latin typeface="Aptos"/>
              </a:rPr>
              <a:t>ARI con 10 semillas
45 comparaciones por 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09160" y="3017520"/>
            <a:ext cx="6446520" cy="1508760"/>
          </a:xfrm>
          <a:prstGeom prst="roundRect">
            <a:avLst/>
          </a:prstGeom>
          <a:solidFill>
            <a:srgbClr val="EDF3F9"/>
          </a:solidFill>
          <a:ln>
            <a:solidFill>
              <a:srgbClr val="DCE4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709160" y="3017520"/>
            <a:ext cx="82296" cy="1508760"/>
          </a:xfrm>
          <a:prstGeom prst="rect">
            <a:avLst/>
          </a:prstGeom>
          <a:solidFill>
            <a:srgbClr val="122F5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956048" y="3172968"/>
            <a:ext cx="6035040" cy="32004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22F52"/>
                </a:solidFill>
                <a:latin typeface="Aptos"/>
              </a:rPr>
              <a:t>SELECCIÓN FINAL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6048" y="3584448"/>
            <a:ext cx="6035040" cy="822959"/>
          </a:xfrm>
          <a:prstGeom prst="rect">
            <a:avLst/>
          </a:prstGeom>
          <a:noFill/>
          <a:ln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27303A"/>
                </a:solidFill>
                <a:latin typeface="Aptos"/>
              </a:rPr>
              <a:t>PC11 + K = 4
ARI = 1.00 para K=4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983480"/>
            <a:ext cx="10469880" cy="50292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solidFill>
                  <a:srgbClr val="122F52"/>
                </a:solidFill>
                <a:latin typeface="Aptos"/>
              </a:rPr>
              <a:t>También se revisaron tamaño de clusters y parsimonia: K=4 evita una fragmentación excesiva.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6510528"/>
            <a:ext cx="5029200" cy="164592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6C7884"/>
                </a:solidFill>
                <a:latin typeface="Aptos"/>
              </a:rPr>
              <a:t>MSDS 6014  ·  Matemáticas y Programación 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492240"/>
            <a:ext cx="502920" cy="18288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r"/>
            <a:r>
              <a:rPr sz="850" b="1">
                <a:solidFill>
                  <a:srgbClr val="6C7884"/>
                </a:solidFill>
                <a:latin typeface="Apto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35B91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228600"/>
            <a:ext cx="2286000" cy="18288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D3A643"/>
                </a:solidFill>
                <a:latin typeface="Aptos"/>
              </a:rPr>
              <a:t>08 · CARACTERIZACIÓN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466344"/>
            <a:ext cx="10241280" cy="38404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122F52"/>
                </a:solidFill>
                <a:latin typeface="Aptos"/>
              </a:rPr>
              <a:t>Los cuatro perfiles financieros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914400"/>
            <a:ext cx="10972800" cy="13716"/>
          </a:xfrm>
          <a:prstGeom prst="rect">
            <a:avLst/>
          </a:prstGeom>
          <a:solidFill>
            <a:srgbClr val="EDF3F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40080" y="1325880"/>
            <a:ext cx="507492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D7DD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91440" cy="1874519"/>
          </a:xfrm>
          <a:prstGeom prst="rect">
            <a:avLst/>
          </a:prstGeom>
          <a:solidFill>
            <a:srgbClr val="367E5B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490472"/>
            <a:ext cx="1188720" cy="22860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950" b="1">
                <a:solidFill>
                  <a:srgbClr val="6C7884"/>
                </a:solidFill>
                <a:latin typeface="Aptos"/>
              </a:rPr>
              <a:t>CLUSTER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801368"/>
            <a:ext cx="4526280" cy="36576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900" b="1">
                <a:solidFill>
                  <a:srgbClr val="122F52"/>
                </a:solidFill>
                <a:latin typeface="Aptos"/>
              </a:rPr>
              <a:t>EXCELENTE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331720"/>
            <a:ext cx="4434840" cy="621792"/>
          </a:xfrm>
          <a:prstGeom prst="rect">
            <a:avLst/>
          </a:prstGeom>
          <a:noFill/>
          <a:ln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27303A"/>
                </a:solidFill>
                <a:latin typeface="Aptos"/>
              </a:rPr>
              <a:t>Solidez financiera, calidad crediticia,
cobertura y rentabilidad superior.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07492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D7DD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172200" y="1325880"/>
            <a:ext cx="91440" cy="1874519"/>
          </a:xfrm>
          <a:prstGeom prst="rect">
            <a:avLst/>
          </a:prstGeom>
          <a:solidFill>
            <a:srgbClr val="235B91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46520" y="1490472"/>
            <a:ext cx="1188720" cy="22860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950" b="1">
                <a:solidFill>
                  <a:srgbClr val="6C7884"/>
                </a:solidFill>
                <a:latin typeface="Aptos"/>
              </a:rPr>
              <a:t>CLUSTER 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1801368"/>
            <a:ext cx="4526280" cy="36576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900" b="1">
                <a:solidFill>
                  <a:srgbClr val="122F52"/>
                </a:solidFill>
                <a:latin typeface="Aptos"/>
              </a:rPr>
              <a:t>ESTABLE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331720"/>
            <a:ext cx="4434840" cy="621792"/>
          </a:xfrm>
          <a:prstGeom prst="rect">
            <a:avLst/>
          </a:prstGeom>
          <a:noFill/>
          <a:ln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27303A"/>
                </a:solidFill>
                <a:latin typeface="Aptos"/>
              </a:rPr>
              <a:t>Estabilidad, crecimiento moderado
y eficiencia relativa.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566160"/>
            <a:ext cx="507492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D7DD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40080" y="3566160"/>
            <a:ext cx="91440" cy="1874519"/>
          </a:xfrm>
          <a:prstGeom prst="rect">
            <a:avLst/>
          </a:prstGeom>
          <a:solidFill>
            <a:srgbClr val="D3A643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3730752"/>
            <a:ext cx="1188720" cy="22860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950" b="1">
                <a:solidFill>
                  <a:srgbClr val="6C7884"/>
                </a:solidFill>
                <a:latin typeface="Aptos"/>
              </a:rPr>
              <a:t>CLUSTER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041648"/>
            <a:ext cx="4526280" cy="36576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900" b="1">
                <a:solidFill>
                  <a:srgbClr val="122F52"/>
                </a:solidFill>
                <a:latin typeface="Aptos"/>
              </a:rPr>
              <a:t>ALTA CAPITALIZACIÓN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572000"/>
            <a:ext cx="4434840" cy="621792"/>
          </a:xfrm>
          <a:prstGeom prst="rect">
            <a:avLst/>
          </a:prstGeom>
          <a:noFill/>
          <a:ln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27303A"/>
                </a:solidFill>
                <a:latin typeface="Aptos"/>
              </a:rPr>
              <a:t>Mayor capitalización, liquidez y dinamismo
de depósitos; mayores gastos y morosidad.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3566160"/>
            <a:ext cx="507492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D7DD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172200" y="3566160"/>
            <a:ext cx="91440" cy="1874519"/>
          </a:xfrm>
          <a:prstGeom prst="rect">
            <a:avLst/>
          </a:prstGeom>
          <a:solidFill>
            <a:srgbClr val="122F5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46520" y="3730752"/>
            <a:ext cx="1188720" cy="22860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950" b="1">
                <a:solidFill>
                  <a:srgbClr val="6C7884"/>
                </a:solidFill>
                <a:latin typeface="Aptos"/>
              </a:rPr>
              <a:t>CLUSTER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4041648"/>
            <a:ext cx="4526280" cy="36576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900" b="1">
                <a:solidFill>
                  <a:srgbClr val="122F52"/>
                </a:solidFill>
                <a:latin typeface="Aptos"/>
              </a:rPr>
              <a:t>MAYOR DETERIORO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4572000"/>
            <a:ext cx="4434840" cy="621792"/>
          </a:xfrm>
          <a:prstGeom prst="rect">
            <a:avLst/>
          </a:prstGeom>
          <a:noFill/>
          <a:ln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27303A"/>
                </a:solidFill>
                <a:latin typeface="Aptos"/>
              </a:rPr>
              <a:t>Mayor morosidad, menor rentabilidad
y menor crecimiento relativo.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5669280"/>
            <a:ext cx="9829800" cy="32004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122F52"/>
                </a:solidFill>
                <a:latin typeface="Aptos"/>
              </a:rPr>
              <a:t>Orden financiero relativo:   C3  →  C0  →  C1  →  C2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6510528"/>
            <a:ext cx="5029200" cy="164592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6C7884"/>
                </a:solidFill>
                <a:latin typeface="Aptos"/>
              </a:rPr>
              <a:t>MSDS 6014  ·  Matemáticas y Programación 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92240"/>
            <a:ext cx="502920" cy="18288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r"/>
            <a:r>
              <a:rPr sz="850" b="1">
                <a:solidFill>
                  <a:srgbClr val="6C7884"/>
                </a:solidFill>
                <a:latin typeface="Apto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35B91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228600"/>
            <a:ext cx="2286000" cy="18288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D3A643"/>
                </a:solidFill>
                <a:latin typeface="Aptos"/>
              </a:rPr>
              <a:t>09 · EVOLUCIÓN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466344"/>
            <a:ext cx="10241280" cy="38404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122F52"/>
                </a:solidFill>
                <a:latin typeface="Aptos"/>
              </a:rPr>
              <a:t>Evolución temporal: persistencia y transiciones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914400"/>
            <a:ext cx="10972800" cy="13716"/>
          </a:xfrm>
          <a:prstGeom prst="rect">
            <a:avLst/>
          </a:prstGeom>
          <a:solidFill>
            <a:srgbClr val="EDF3F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40080" y="1234440"/>
            <a:ext cx="6537960" cy="4160520"/>
          </a:xfrm>
          <a:prstGeom prst="roundRect">
            <a:avLst/>
          </a:prstGeom>
          <a:solidFill>
            <a:srgbClr val="EDF3F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417320" y="2743200"/>
            <a:ext cx="4983480" cy="45720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6C7884"/>
                </a:solidFill>
                <a:latin typeface="Aptos"/>
              </a:rPr>
              <a:t>INSERTAR HEATMAP TEMPORAL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3273552"/>
            <a:ext cx="4983480" cy="27432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6C7884"/>
                </a:solidFill>
                <a:latin typeface="Aptos"/>
              </a:rPr>
              <a:t>Entidad × Año-Mes × Cluster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0" y="1280160"/>
            <a:ext cx="3657600" cy="32004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650" b="1">
                <a:solidFill>
                  <a:srgbClr val="122F52"/>
                </a:solidFill>
                <a:latin typeface="Aptos"/>
              </a:rPr>
              <a:t>TRANSICIONES OBSERVADAS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43800" y="1783080"/>
            <a:ext cx="365760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26679" y="1856231"/>
            <a:ext cx="960120" cy="219456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D3A643"/>
                </a:solidFill>
                <a:latin typeface="Aptos"/>
              </a:rPr>
              <a:t>D-Miro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1847088"/>
            <a:ext cx="2240280" cy="24688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950" b="1">
                <a:solidFill>
                  <a:srgbClr val="27303A"/>
                </a:solidFill>
                <a:latin typeface="Aptos"/>
              </a:rPr>
              <a:t>C1 → C2 → C1 → C2 → C1 → C0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43800" y="2423160"/>
            <a:ext cx="365760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26679" y="2496312"/>
            <a:ext cx="960120" cy="219456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D3A643"/>
                </a:solidFill>
                <a:latin typeface="Aptos"/>
              </a:rPr>
              <a:t>Capital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32520" y="2487168"/>
            <a:ext cx="2240280" cy="24688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950" b="1">
                <a:solidFill>
                  <a:srgbClr val="27303A"/>
                </a:solidFill>
                <a:latin typeface="Aptos"/>
              </a:rPr>
              <a:t>C0 → C2 → C0 | C0 → C1 → C0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43800" y="3063239"/>
            <a:ext cx="365760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26679" y="3136391"/>
            <a:ext cx="960120" cy="219456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D3A643"/>
                </a:solidFill>
                <a:latin typeface="Aptos"/>
              </a:rPr>
              <a:t>Diners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32520" y="3127247"/>
            <a:ext cx="2240280" cy="24688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950" b="1">
                <a:solidFill>
                  <a:srgbClr val="27303A"/>
                </a:solidFill>
                <a:latin typeface="Aptos"/>
              </a:rPr>
              <a:t>C1 ↔ C0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43800" y="3703320"/>
            <a:ext cx="365760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26679" y="3776472"/>
            <a:ext cx="960120" cy="219456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D3A643"/>
                </a:solidFill>
                <a:latin typeface="Aptos"/>
              </a:rPr>
              <a:t>Codesarrollo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32520" y="3767328"/>
            <a:ext cx="2240280" cy="24688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950" b="1">
                <a:solidFill>
                  <a:srgbClr val="27303A"/>
                </a:solidFill>
                <a:latin typeface="Aptos"/>
              </a:rPr>
              <a:t>C0 → C1 → C0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43800" y="4343400"/>
            <a:ext cx="365760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726679" y="4416552"/>
            <a:ext cx="960120" cy="219456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D3A643"/>
                </a:solidFill>
                <a:latin typeface="Aptos"/>
              </a:rPr>
              <a:t>Delbank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32520" y="4407408"/>
            <a:ext cx="2240280" cy="24688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950" b="1">
                <a:solidFill>
                  <a:srgbClr val="27303A"/>
                </a:solidFill>
                <a:latin typeface="Aptos"/>
              </a:rPr>
              <a:t>C1 → C0 → C1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669280"/>
            <a:ext cx="10561320" cy="38404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122F52"/>
                </a:solidFill>
                <a:latin typeface="Aptos"/>
              </a:rPr>
              <a:t>Hallazgo → la mayoría de entidades mantiene su perfil; los cambios se concentran en pocas instituciones.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510528"/>
            <a:ext cx="5029200" cy="164592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6C7884"/>
                </a:solidFill>
                <a:latin typeface="Aptos"/>
              </a:rPr>
              <a:t>MSDS 6014  ·  Matemáticas y Programación 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492240"/>
            <a:ext cx="502920" cy="18288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r"/>
            <a:r>
              <a:rPr sz="850" b="1">
                <a:solidFill>
                  <a:srgbClr val="6C7884"/>
                </a:solidFill>
                <a:latin typeface="Apto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35B91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94360" y="228600"/>
            <a:ext cx="2286000" cy="18288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850" b="1">
                <a:solidFill>
                  <a:srgbClr val="D3A643"/>
                </a:solidFill>
                <a:latin typeface="Aptos"/>
              </a:rPr>
              <a:t>10 · CONCLUSIONES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466344"/>
            <a:ext cx="10241280" cy="384048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122F52"/>
                </a:solidFill>
                <a:latin typeface="Aptos"/>
              </a:rPr>
              <a:t>Conclusiones finales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914400"/>
            <a:ext cx="10972800" cy="13716"/>
          </a:xfrm>
          <a:prstGeom prst="rect">
            <a:avLst/>
          </a:prstGeom>
          <a:solidFill>
            <a:srgbClr val="EDF3F9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40080" y="1234440"/>
            <a:ext cx="566928" cy="566928"/>
          </a:xfrm>
          <a:prstGeom prst="roundRect">
            <a:avLst/>
          </a:prstGeom>
          <a:solidFill>
            <a:srgbClr val="D3A643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566928" cy="347472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234440"/>
            <a:ext cx="2514600" cy="32004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122F52"/>
                </a:solidFill>
                <a:latin typeface="Aptos"/>
              </a:rPr>
              <a:t>Cuatro perfiles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1225296"/>
            <a:ext cx="7040880" cy="50292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7303A"/>
                </a:solidFill>
                <a:latin typeface="Aptos"/>
              </a:rPr>
              <a:t>El clustering identifica estructuras financieras diferenciadas e interpretables.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258568"/>
            <a:ext cx="566928" cy="566928"/>
          </a:xfrm>
          <a:prstGeom prst="roundRect">
            <a:avLst/>
          </a:prstGeom>
          <a:solidFill>
            <a:srgbClr val="D3A643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2350008"/>
            <a:ext cx="566928" cy="347472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258568"/>
            <a:ext cx="2514600" cy="32004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122F52"/>
                </a:solidFill>
                <a:latin typeface="Aptos"/>
              </a:rPr>
              <a:t>PC11 + K=4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2249424"/>
            <a:ext cx="7040880" cy="50292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7303A"/>
                </a:solidFill>
                <a:latin typeface="Aptos"/>
              </a:rPr>
              <a:t>La solución combina calidad, estabilidad, tamaño razonable e interpretación financiera.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282696"/>
            <a:ext cx="566928" cy="566928"/>
          </a:xfrm>
          <a:prstGeom prst="roundRect">
            <a:avLst/>
          </a:prstGeom>
          <a:solidFill>
            <a:srgbClr val="D3A643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3374136"/>
            <a:ext cx="566928" cy="347472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282696"/>
            <a:ext cx="2514600" cy="32004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122F52"/>
                </a:solidFill>
                <a:latin typeface="Aptos"/>
              </a:rPr>
              <a:t>Perfil financiero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273552"/>
            <a:ext cx="7040880" cy="50292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7303A"/>
                </a:solidFill>
                <a:latin typeface="Aptos"/>
              </a:rPr>
              <a:t>Los indicadores originales permiten traducir los clusters a características económicas.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306824"/>
            <a:ext cx="566928" cy="566928"/>
          </a:xfrm>
          <a:prstGeom prst="roundRect">
            <a:avLst/>
          </a:prstGeom>
          <a:solidFill>
            <a:srgbClr val="D3A643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0080" y="4398264"/>
            <a:ext cx="566928" cy="347472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Aptos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4306824"/>
            <a:ext cx="2514600" cy="32004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122F52"/>
                </a:solidFill>
                <a:latin typeface="Aptos"/>
              </a:rPr>
              <a:t>Persistencia temporal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4297680"/>
            <a:ext cx="7040880" cy="50292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7303A"/>
                </a:solidFill>
                <a:latin typeface="Aptos"/>
              </a:rPr>
              <a:t>La mayoría mantiene su perfil; los cambios se concentran en entidades y períodos específicos.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0120" y="5532120"/>
            <a:ext cx="10195560" cy="594360"/>
          </a:xfrm>
          <a:prstGeom prst="roundRect">
            <a:avLst/>
          </a:prstGeom>
          <a:solidFill>
            <a:srgbClr val="122F5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234440" y="5641848"/>
            <a:ext cx="9646920" cy="347472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  <a:latin typeface="Aptos"/>
              </a:rPr>
              <a:t>Las entidades presentan perfiles financieros diferenciados que pueden ser identificados y monitoreados mediante aprendizaje no supervisado.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6510528"/>
            <a:ext cx="5029200" cy="164592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l"/>
            <a:r>
              <a:rPr sz="800" b="0">
                <a:solidFill>
                  <a:srgbClr val="6C7884"/>
                </a:solidFill>
                <a:latin typeface="Aptos"/>
              </a:rPr>
              <a:t>MSDS 6014  ·  Matemáticas y Programación 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92240"/>
            <a:ext cx="502920" cy="18288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r"/>
            <a:r>
              <a:rPr sz="850" b="1">
                <a:solidFill>
                  <a:srgbClr val="6C7884"/>
                </a:solidFill>
                <a:latin typeface="Apto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35B91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122F52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965960"/>
            <a:ext cx="10332720" cy="59436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122F52"/>
                </a:solidFill>
                <a:latin typeface="Aptos"/>
              </a:rPr>
              <a:t>GRACIAS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32720" cy="41148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2500" b="1">
                <a:solidFill>
                  <a:srgbClr val="D3A643"/>
                </a:solidFill>
                <a:latin typeface="Aptos"/>
              </a:rPr>
              <a:t>Preguntas</a:t>
            </a:r>
          </a:p>
        </p:txBody>
      </p:sp>
      <p:sp>
        <p:nvSpPr>
          <p:cNvPr id="6" name="Rectangle 5"/>
          <p:cNvSpPr/>
          <p:nvPr/>
        </p:nvSpPr>
        <p:spPr>
          <a:xfrm>
            <a:off x="5349240" y="3429000"/>
            <a:ext cx="1508760" cy="45720"/>
          </a:xfrm>
          <a:prstGeom prst="rect">
            <a:avLst/>
          </a:prstGeom>
          <a:solidFill>
            <a:srgbClr val="D3A643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3794760"/>
            <a:ext cx="10332720" cy="32004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200" b="0">
                <a:solidFill>
                  <a:srgbClr val="6C7884"/>
                </a:solidFill>
                <a:latin typeface="Aptos"/>
              </a:rPr>
              <a:t>PCA + K-Means  |  Perfiles financieros 2021–2026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760720"/>
            <a:ext cx="10332720" cy="22860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Aptos"/>
              </a:rPr>
              <a:t>MSDS 6014 · Matemáticas y Programación IA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881</Words>
  <Application>Microsoft Office PowerPoint</Application>
  <PresentationFormat>Panorámica</PresentationFormat>
  <Paragraphs>170</Paragraphs>
  <Slides>12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6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ASUS</dc:creator>
  <cp:keywords/>
  <dc:description>generated using python-pptx</dc:description>
  <cp:lastModifiedBy>Darlyn Maithé Ludeña Cedeño</cp:lastModifiedBy>
  <cp:revision>2</cp:revision>
  <dcterms:created xsi:type="dcterms:W3CDTF">2013-01-27T09:14:16Z</dcterms:created>
  <dcterms:modified xsi:type="dcterms:W3CDTF">2026-09-11T05:40:33Z</dcterms:modified>
  <cp:category/>
</cp:coreProperties>
</file>