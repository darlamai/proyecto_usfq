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9" r:id="rId4"/>
    <p:sldId id="270" r:id="rId5"/>
    <p:sldId id="268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2192000" cy="79375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0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2" d="100"/>
          <a:sy n="72" d="100"/>
        </p:scale>
        <p:origin x="1075" y="-5"/>
      </p:cViewPr>
      <p:guideLst>
        <p:guide orient="horz" pos="250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465770"/>
            <a:ext cx="7772400" cy="170141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497917"/>
            <a:ext cx="6400800" cy="202847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100579"/>
            <a:ext cx="7772400" cy="157647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364252"/>
            <a:ext cx="7772400" cy="173632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852084"/>
            <a:ext cx="4038600" cy="523838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52084"/>
            <a:ext cx="4038600" cy="523838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76751"/>
            <a:ext cx="4040188" cy="7404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517216"/>
            <a:ext cx="4040188" cy="45732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776751"/>
            <a:ext cx="4041775" cy="7404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517216"/>
            <a:ext cx="4041775" cy="45732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316030"/>
            <a:ext cx="3008313" cy="134496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316031"/>
            <a:ext cx="5111750" cy="677443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660996"/>
            <a:ext cx="3008313" cy="542947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5556250"/>
            <a:ext cx="5486400" cy="65594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709230"/>
            <a:ext cx="5486400" cy="47625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6212197"/>
            <a:ext cx="5486400" cy="93155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317869"/>
            <a:ext cx="2057400" cy="67725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317869"/>
            <a:ext cx="6019800" cy="677259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17868"/>
            <a:ext cx="8229600" cy="1322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852084"/>
            <a:ext cx="8229600" cy="5238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7356887"/>
            <a:ext cx="2133600" cy="4225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7356887"/>
            <a:ext cx="2895600" cy="4225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7356887"/>
            <a:ext cx="2133600" cy="4225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uperbancos.gob.ec/estadisticas/portalestudios/bancos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977" y="-46364"/>
            <a:ext cx="12191695" cy="118872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40775" y="0"/>
            <a:ext cx="2542032" cy="7937500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33894" y="72508"/>
            <a:ext cx="70225" cy="7325242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81627" y="264220"/>
            <a:ext cx="2087880" cy="1995457"/>
          </a:xfrm>
          <a:prstGeom prst="roundRect">
            <a:avLst/>
          </a:prstGeom>
          <a:solidFill>
            <a:srgbClr val="FFFFFF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go(2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45" y="377259"/>
            <a:ext cx="1692525" cy="1692525"/>
          </a:xfrm>
          <a:prstGeom prst="rect">
            <a:avLst/>
          </a:prstGeom>
          <a:ln/>
        </p:spPr>
      </p:pic>
      <p:sp>
        <p:nvSpPr>
          <p:cNvPr id="7" name="TextBox 6"/>
          <p:cNvSpPr txBox="1"/>
          <p:nvPr/>
        </p:nvSpPr>
        <p:spPr>
          <a:xfrm>
            <a:off x="2551225" y="1231299"/>
            <a:ext cx="4114800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PROYECTO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83143" y="1942688"/>
            <a:ext cx="6943738" cy="1754326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2700" b="1" dirty="0">
                <a:solidFill>
                  <a:srgbClr val="122F52"/>
                </a:solidFill>
                <a:latin typeface="Aptos"/>
              </a:rPr>
              <a:t>Identificación de perfiles</a:t>
            </a:r>
            <a:r>
              <a:rPr lang="es-ES" sz="2700" b="1" dirty="0">
                <a:solidFill>
                  <a:srgbClr val="122F52"/>
                </a:solidFill>
                <a:latin typeface="Aptos"/>
              </a:rPr>
              <a:t> </a:t>
            </a:r>
            <a:r>
              <a:rPr sz="2700" b="1" dirty="0">
                <a:solidFill>
                  <a:srgbClr val="122F52"/>
                </a:solidFill>
                <a:latin typeface="Aptos"/>
              </a:rPr>
              <a:t>financieros de las entidades</a:t>
            </a:r>
            <a:r>
              <a:rPr lang="es-ES" sz="2700" b="1" dirty="0">
                <a:solidFill>
                  <a:srgbClr val="122F52"/>
                </a:solidFill>
                <a:latin typeface="Aptos"/>
              </a:rPr>
              <a:t> </a:t>
            </a:r>
            <a:r>
              <a:rPr sz="2700" b="1" dirty="0">
                <a:solidFill>
                  <a:srgbClr val="122F52"/>
                </a:solidFill>
                <a:latin typeface="Aptos"/>
              </a:rPr>
              <a:t>bancarias privadas ecuatorianas</a:t>
            </a:r>
            <a:r>
              <a:rPr lang="es-ES" sz="2700" b="1" dirty="0">
                <a:solidFill>
                  <a:srgbClr val="122F52"/>
                </a:solidFill>
                <a:latin typeface="Aptos"/>
              </a:rPr>
              <a:t> y su caracterización temporal mediante PCA y Clustering.</a:t>
            </a:r>
            <a:endParaRPr sz="2700" b="1" dirty="0">
              <a:solidFill>
                <a:srgbClr val="122F52"/>
              </a:solidFill>
              <a:latin typeface="Apto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312918" y="3968750"/>
            <a:ext cx="7355217" cy="118872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83143" y="4335162"/>
            <a:ext cx="4114800" cy="43088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dirty="0">
                <a:solidFill>
                  <a:srgbClr val="27303A"/>
                </a:solidFill>
                <a:latin typeface="Aptos"/>
              </a:rPr>
              <a:t>Darlyn Ludeña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3143" y="4847687"/>
            <a:ext cx="5486400" cy="4001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000" dirty="0">
                <a:solidFill>
                  <a:srgbClr val="6C7884"/>
                </a:solidFill>
                <a:latin typeface="Aptos"/>
              </a:rPr>
              <a:t>Maestría en Inteligencia Artificial · USFQ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3152" y="5359475"/>
            <a:ext cx="5669280" cy="4001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lang="es-ES" sz="2000" dirty="0">
                <a:solidFill>
                  <a:srgbClr val="6C7884"/>
                </a:solidFill>
                <a:latin typeface="Aptos"/>
              </a:rPr>
              <a:t>Matemáticas y Programación IA</a:t>
            </a:r>
            <a:endParaRPr sz="2000" dirty="0">
              <a:solidFill>
                <a:srgbClr val="6C7884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337292" y="5759585"/>
            <a:ext cx="1325880" cy="4572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300" b="1" dirty="0">
                <a:solidFill>
                  <a:srgbClr val="FFFFFF"/>
                </a:solidFill>
                <a:latin typeface="Aptos"/>
              </a:rPr>
              <a:t>USFQ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292" y="6442304"/>
            <a:ext cx="1497528" cy="36933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lang="es-ES" dirty="0">
                <a:solidFill>
                  <a:srgbClr val="D2E1DF"/>
                </a:solidFill>
                <a:latin typeface="Aptos"/>
              </a:rPr>
              <a:t>12/09/</a:t>
            </a:r>
            <a:r>
              <a:rPr dirty="0">
                <a:solidFill>
                  <a:srgbClr val="D2E1DF"/>
                </a:solidFill>
                <a:latin typeface="Aptos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20871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4707" y="323084"/>
            <a:ext cx="3813048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01 · CONTEXTO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4707" y="877684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6245" y="1391461"/>
            <a:ext cx="11112571" cy="1571391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43184" y="1391461"/>
            <a:ext cx="82296" cy="1393083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1467334"/>
            <a:ext cx="2834639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lang="es-ES" sz="1500" b="1" dirty="0">
                <a:solidFill>
                  <a:srgbClr val="122F52"/>
                </a:solidFill>
                <a:latin typeface="Aptos"/>
              </a:rPr>
              <a:t>PROBLEMA</a:t>
            </a:r>
            <a:endParaRPr sz="1500" b="1" dirty="0">
              <a:solidFill>
                <a:srgbClr val="122F52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9807" y="1718577"/>
            <a:ext cx="10911251" cy="1169551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lang="es-EC" sz="1400" dirty="0"/>
              <a:t>Las entidades bancarias presentan múltiples indicadores financieros que permiten evaluar dimensiones como </a:t>
            </a:r>
            <a:r>
              <a:rPr lang="es-EC" sz="1400" b="1" dirty="0"/>
              <a:t>solvencia, liquidez, rentabilidad, eficiencia y calidad de cartera</a:t>
            </a:r>
            <a:r>
              <a:rPr lang="es-EC" sz="1400" dirty="0"/>
              <a:t>. Sin embargo, el análisis simultáneo de estos indicadores dificulta identificar patrones y perfiles financieros diferenciados.</a:t>
            </a:r>
          </a:p>
          <a:p>
            <a:r>
              <a:rPr lang="es-EC" sz="1400" i="1" dirty="0">
                <a:solidFill>
                  <a:srgbClr val="27303A"/>
                </a:solidFill>
                <a:latin typeface="Aptos"/>
              </a:rPr>
              <a:t>Pregunta de investigación: </a:t>
            </a:r>
            <a:r>
              <a:rPr lang="es-EC" sz="1400" i="1" dirty="0"/>
              <a:t>¿Es posible identificar perfiles financieros homogéneos entre las entidades bancarias privadas ecuatorianas y analizar su evolución a lo largo del tiempo mediante técnicas de aprendizaje no supervisado?</a:t>
            </a:r>
            <a:endParaRPr sz="1300" i="1" dirty="0">
              <a:solidFill>
                <a:srgbClr val="27303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36245" y="3082808"/>
            <a:ext cx="11125472" cy="1527462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C" sz="1400" dirty="0">
              <a:solidFill>
                <a:schemeClr val="tx1"/>
              </a:solidFill>
            </a:endParaRPr>
          </a:p>
          <a:p>
            <a:r>
              <a:rPr lang="es-EC" sz="1400" dirty="0">
                <a:solidFill>
                  <a:schemeClr val="tx1"/>
                </a:solidFill>
              </a:rPr>
              <a:t>Identificar y caracterizar perfiles financieros de las entidades bancarias privadas del Ecuador mediante el análisis de indicadores financieros y los balances contables publicados por la Superintendencia de Bancos, utilizando técnicas de reducción de dimensionalidad (PCA) y aprendizaje no supervisado (Clustering), con el propósito de analizar la evolución temporal de dichos perfiles y determinar si las entidades mantienen o modifican sus características financieras.</a:t>
            </a:r>
            <a:endParaRPr sz="1400" dirty="0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62411" y="2962851"/>
            <a:ext cx="82296" cy="1647418"/>
          </a:xfrm>
          <a:prstGeom prst="rect">
            <a:avLst/>
          </a:prstGeom>
          <a:solidFill>
            <a:srgbClr val="5B9BD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" y="3129947"/>
            <a:ext cx="2834639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lang="es-ES" sz="1500" b="1" dirty="0">
                <a:solidFill>
                  <a:srgbClr val="122F52"/>
                </a:solidFill>
                <a:latin typeface="Aptos"/>
              </a:rPr>
              <a:t>OBJETIVOS</a:t>
            </a:r>
            <a:endParaRPr sz="1500" b="1" dirty="0">
              <a:solidFill>
                <a:srgbClr val="122F52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3840" y="7341118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 dirty="0">
                <a:solidFill>
                  <a:srgbClr val="6C7884"/>
                </a:solidFill>
                <a:latin typeface="Aptos"/>
              </a:rPr>
              <a:t>MSDS 6014  ·  </a:t>
            </a:r>
            <a:r>
              <a:rPr sz="800" dirty="0" err="1">
                <a:solidFill>
                  <a:srgbClr val="6C7884"/>
                </a:solidFill>
                <a:latin typeface="Aptos"/>
              </a:rPr>
              <a:t>Matemáticas</a:t>
            </a:r>
            <a:r>
              <a:rPr sz="800" dirty="0">
                <a:solidFill>
                  <a:srgbClr val="6C7884"/>
                </a:solidFill>
                <a:latin typeface="Aptos"/>
              </a:rPr>
              <a:t> y </a:t>
            </a:r>
            <a:r>
              <a:rPr sz="800" dirty="0" err="1">
                <a:solidFill>
                  <a:srgbClr val="6C7884"/>
                </a:solidFill>
                <a:latin typeface="Aptos"/>
              </a:rPr>
              <a:t>Programación</a:t>
            </a:r>
            <a:r>
              <a:rPr sz="800" dirty="0">
                <a:solidFill>
                  <a:srgbClr val="6C7884"/>
                </a:solidFill>
                <a:latin typeface="Aptos"/>
              </a:rPr>
              <a:t>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24260" y="733727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 dirty="0">
                <a:solidFill>
                  <a:srgbClr val="6C7884"/>
                </a:solidFill>
                <a:latin typeface="Aptos"/>
              </a:rPr>
              <a:t>02</a:t>
            </a:r>
          </a:p>
        </p:txBody>
      </p:sp>
      <p:sp>
        <p:nvSpPr>
          <p:cNvPr id="26" name="Rectangle 3">
            <a:extLst>
              <a:ext uri="{FF2B5EF4-FFF2-40B4-BE49-F238E27FC236}">
                <a16:creationId xmlns:a16="http://schemas.microsoft.com/office/drawing/2014/main" id="{49A0DC79-356B-BF4E-2EE0-51B06BCD1A17}"/>
              </a:ext>
            </a:extLst>
          </p:cNvPr>
          <p:cNvSpPr/>
          <p:nvPr/>
        </p:nvSpPr>
        <p:spPr>
          <a:xfrm flipH="1">
            <a:off x="437723" y="4767463"/>
            <a:ext cx="82297" cy="1746622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7">
            <a:extLst>
              <a:ext uri="{FF2B5EF4-FFF2-40B4-BE49-F238E27FC236}">
                <a16:creationId xmlns:a16="http://schemas.microsoft.com/office/drawing/2014/main" id="{72B52038-93D3-14DE-DBDA-DD56AA15B3CC}"/>
              </a:ext>
            </a:extLst>
          </p:cNvPr>
          <p:cNvSpPr/>
          <p:nvPr/>
        </p:nvSpPr>
        <p:spPr>
          <a:xfrm>
            <a:off x="649146" y="4855079"/>
            <a:ext cx="11112571" cy="1571391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C" sz="1400" dirty="0">
              <a:solidFill>
                <a:schemeClr val="tx1"/>
              </a:solidFill>
            </a:endParaRPr>
          </a:p>
          <a:p>
            <a:endParaRPr lang="es-EC" sz="1400" dirty="0">
              <a:solidFill>
                <a:schemeClr val="tx1"/>
              </a:solidFill>
            </a:endParaRPr>
          </a:p>
          <a:p>
            <a:r>
              <a:rPr lang="es-EC" sz="1400" b="1" dirty="0">
                <a:solidFill>
                  <a:schemeClr val="tx1"/>
                </a:solidFill>
              </a:rPr>
              <a:t>FUENTE: </a:t>
            </a:r>
            <a:r>
              <a:rPr lang="es-EC" sz="1400" dirty="0">
                <a:solidFill>
                  <a:schemeClr val="tx1"/>
                </a:solidFill>
              </a:rPr>
              <a:t> Superintendencia de Bancos del Ecuador, Boletines Financieros Mensuales. (</a:t>
            </a:r>
            <a:r>
              <a:rPr lang="es-EC" sz="1200" dirty="0">
                <a:solidFill>
                  <a:schemeClr val="tx1"/>
                </a:solidFill>
                <a:hlinkClick r:id="rId2"/>
              </a:rPr>
              <a:t>https://www.superbancos.gob.ec/estadisticas/portalestudios/bancos/  </a:t>
            </a:r>
            <a:r>
              <a:rPr lang="es-EC" sz="1400" dirty="0">
                <a:solidFill>
                  <a:schemeClr val="tx1"/>
                </a:solidFill>
              </a:rPr>
              <a:t>)</a:t>
            </a:r>
          </a:p>
          <a:p>
            <a:r>
              <a:rPr lang="es-EC" sz="1400" b="1" dirty="0">
                <a:solidFill>
                  <a:schemeClr val="tx1"/>
                </a:solidFill>
              </a:rPr>
              <a:t>HOMOLOGACIÓN:  </a:t>
            </a:r>
            <a:r>
              <a:rPr lang="es-EC" sz="1400" dirty="0">
                <a:solidFill>
                  <a:schemeClr val="tx1"/>
                </a:solidFill>
              </a:rPr>
              <a:t>Establecido por el ente de control desde el 1 de Mayo 2021 —&gt; Información comparable en el tiempo.</a:t>
            </a:r>
          </a:p>
          <a:p>
            <a:r>
              <a:rPr lang="es-EC" sz="1400" b="1" dirty="0">
                <a:solidFill>
                  <a:schemeClr val="tx1"/>
                </a:solidFill>
              </a:rPr>
              <a:t>DATASET ANALÍTICO: </a:t>
            </a:r>
            <a:r>
              <a:rPr lang="es-EC" sz="1400" dirty="0">
                <a:solidFill>
                  <a:schemeClr val="tx1"/>
                </a:solidFill>
              </a:rPr>
              <a:t>Mayo 2022 – Julio 2026  —&gt; Restricción por incorporación de variaciones interanuales.</a:t>
            </a:r>
          </a:p>
          <a:p>
            <a:pPr algn="ctr"/>
            <a:endParaRPr dirty="0"/>
          </a:p>
        </p:txBody>
      </p:sp>
      <p:sp>
        <p:nvSpPr>
          <p:cNvPr id="30" name="TextBox 9">
            <a:extLst>
              <a:ext uri="{FF2B5EF4-FFF2-40B4-BE49-F238E27FC236}">
                <a16:creationId xmlns:a16="http://schemas.microsoft.com/office/drawing/2014/main" id="{93EDC23B-71FF-B262-25EC-74EDAB78EB8F}"/>
              </a:ext>
            </a:extLst>
          </p:cNvPr>
          <p:cNvSpPr txBox="1"/>
          <p:nvPr/>
        </p:nvSpPr>
        <p:spPr>
          <a:xfrm>
            <a:off x="749808" y="4939738"/>
            <a:ext cx="3753367" cy="323165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lang="es-ES" sz="1500" b="1" dirty="0">
                <a:solidFill>
                  <a:srgbClr val="122F52"/>
                </a:solidFill>
                <a:latin typeface="Aptos"/>
              </a:rPr>
              <a:t>HORIZONTE DEL PROYECTO Y FUENTES</a:t>
            </a:r>
            <a:endParaRPr sz="1500" b="1" dirty="0">
              <a:solidFill>
                <a:srgbClr val="122F5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B06D8-7E20-AE5E-8BF3-2AB06EBBB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0C811B-EDE0-5E7F-A312-B72F36929167}"/>
              </a:ext>
            </a:extLst>
          </p:cNvPr>
          <p:cNvSpPr/>
          <p:nvPr/>
        </p:nvSpPr>
        <p:spPr>
          <a:xfrm>
            <a:off x="305" y="-41148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A5E0DF-C10D-D942-4CE8-D0D042B81BCD}"/>
              </a:ext>
            </a:extLst>
          </p:cNvPr>
          <p:cNvSpPr txBox="1"/>
          <p:nvPr/>
        </p:nvSpPr>
        <p:spPr>
          <a:xfrm>
            <a:off x="260601" y="48312"/>
            <a:ext cx="5246001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0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2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·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DATOS</a:t>
            </a:r>
            <a:endParaRPr sz="2600" b="1" dirty="0">
              <a:solidFill>
                <a:srgbClr val="D3A643"/>
              </a:solidFill>
              <a:latin typeface="Apto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6BE8E4-4CC7-A14E-02FD-75BB09483CC6}"/>
              </a:ext>
            </a:extLst>
          </p:cNvPr>
          <p:cNvSpPr/>
          <p:nvPr/>
        </p:nvSpPr>
        <p:spPr>
          <a:xfrm>
            <a:off x="377559" y="550455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01235AB-519F-61B3-2B0F-BA98A1E5D339}"/>
              </a:ext>
            </a:extLst>
          </p:cNvPr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AF2B7D-1C2E-626C-6C44-1A876137E8C8}"/>
              </a:ext>
            </a:extLst>
          </p:cNvPr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02</a:t>
            </a:r>
          </a:p>
        </p:txBody>
      </p:sp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9EE05AF8-BF29-09B5-CC83-19C437331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7590985"/>
              </p:ext>
            </p:extLst>
          </p:nvPr>
        </p:nvGraphicFramePr>
        <p:xfrm>
          <a:off x="165514" y="702171"/>
          <a:ext cx="11860972" cy="67951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1729">
                  <a:extLst>
                    <a:ext uri="{9D8B030D-6E8A-4147-A177-3AD203B41FA5}">
                      <a16:colId xmlns:a16="http://schemas.microsoft.com/office/drawing/2014/main" val="3123229370"/>
                    </a:ext>
                  </a:extLst>
                </a:gridCol>
                <a:gridCol w="1280035">
                  <a:extLst>
                    <a:ext uri="{9D8B030D-6E8A-4147-A177-3AD203B41FA5}">
                      <a16:colId xmlns:a16="http://schemas.microsoft.com/office/drawing/2014/main" val="3530609082"/>
                    </a:ext>
                  </a:extLst>
                </a:gridCol>
                <a:gridCol w="6839208">
                  <a:extLst>
                    <a:ext uri="{9D8B030D-6E8A-4147-A177-3AD203B41FA5}">
                      <a16:colId xmlns:a16="http://schemas.microsoft.com/office/drawing/2014/main" val="691044971"/>
                    </a:ext>
                  </a:extLst>
                </a:gridCol>
              </a:tblGrid>
              <a:tr h="509941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Indicador</a:t>
                      </a:r>
                      <a:endParaRPr lang="es-EC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Sentido favorable</a:t>
                      </a:r>
                      <a:endParaRPr lang="es-EC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Significado</a:t>
                      </a:r>
                      <a:endParaRPr lang="es-EC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776496"/>
                  </a:ext>
                </a:extLst>
              </a:tr>
              <a:tr h="341587">
                <a:tc>
                  <a:txBody>
                    <a:bodyPr/>
                    <a:lstStyle/>
                    <a:p>
                      <a:r>
                        <a:rPr lang="es-ES" sz="1400" dirty="0"/>
                        <a:t>Suficiencia patrimonial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         ⬆</a:t>
                      </a:r>
                      <a:r>
                        <a:rPr lang="es-EC" sz="1800" b="1" dirty="0">
                          <a:solidFill>
                            <a:schemeClr val="tx2"/>
                          </a:solidFill>
                        </a:rPr>
                        <a:t>    </a:t>
                      </a:r>
                      <a:r>
                        <a:rPr lang="es-ES" sz="1200" dirty="0"/>
                        <a:t>&gt;9%</a:t>
                      </a:r>
                      <a:endParaRPr lang="es-EC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Mide la capacidad del patrimonio para respaldar los activos ponderados por riesgo</a:t>
                      </a:r>
                      <a:endParaRPr lang="es-EC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1148826"/>
                  </a:ext>
                </a:extLst>
              </a:tr>
              <a:tr h="397040">
                <a:tc>
                  <a:txBody>
                    <a:bodyPr/>
                    <a:lstStyle/>
                    <a:p>
                      <a:r>
                        <a:rPr lang="es-ES" sz="1400" dirty="0"/>
                        <a:t>Índice de capitalización neto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dirty="0"/>
                        <a:t>          </a:t>
                      </a: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⬆ </a:t>
                      </a:r>
                      <a:r>
                        <a:rPr lang="es-EC" sz="140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es-ES" sz="1200" dirty="0"/>
                        <a:t>&gt;=4%</a:t>
                      </a:r>
                      <a:endParaRPr lang="es-EC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buNone/>
                      </a:pPr>
                      <a:r>
                        <a:rPr lang="es-EC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Mide el nivel de capital propio disponible para respaldar los activos y los riesgos asumidos por la entidad.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6486800"/>
                  </a:ext>
                </a:extLst>
              </a:tr>
              <a:tr h="426984">
                <a:tc>
                  <a:txBody>
                    <a:bodyPr/>
                    <a:lstStyle/>
                    <a:p>
                      <a:r>
                        <a:rPr lang="es-ES" sz="1400" dirty="0"/>
                        <a:t>Activos improductivos netos/ Total de activos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r>
                        <a:rPr lang="es-ES" dirty="0"/>
                        <a:t>       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buNone/>
                      </a:pPr>
                      <a:r>
                        <a:rPr lang="es-EC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Mide la proporción de activos que no generan ingresos financieros, netos de sus provisiones, respecto al total de activos.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105048"/>
                  </a:ext>
                </a:extLst>
              </a:tr>
              <a:tr h="341587">
                <a:tc>
                  <a:txBody>
                    <a:bodyPr/>
                    <a:lstStyle/>
                    <a:p>
                      <a:r>
                        <a:rPr lang="es-ES" sz="1400" dirty="0"/>
                        <a:t>Activos productivos/ Total de activos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18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buNone/>
                      </a:pPr>
                      <a:r>
                        <a:rPr lang="es-EC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Mide la proporción de los activos que generan ingresos financieros respecto al total de activos.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742478"/>
                  </a:ext>
                </a:extLst>
              </a:tr>
              <a:tr h="3970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dirty="0"/>
                        <a:t>Activos productivos/Pasivos con costo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18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buNone/>
                      </a:pPr>
                      <a:r>
                        <a:rPr lang="es-EC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Mide la capacidad de los activos productivos para respaldar los pasivos que generan costos financieros.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7674396"/>
                  </a:ext>
                </a:extLst>
              </a:tr>
              <a:tr h="483915">
                <a:tc>
                  <a:txBody>
                    <a:bodyPr/>
                    <a:lstStyle/>
                    <a:p>
                      <a:r>
                        <a:rPr lang="es-ES" sz="1400" dirty="0"/>
                        <a:t>Morosidad de la cartera total, créditos de consumo, microcrédito e inmobiliarios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r>
                        <a:rPr lang="es-ES" dirty="0"/>
                        <a:t>       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200" dirty="0"/>
                        <a:t>Mide la proporción de la cartera que presenta incumplimiento de pago respecto a la cartera correspondiente.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373896"/>
                  </a:ext>
                </a:extLst>
              </a:tr>
              <a:tr h="483915">
                <a:tc>
                  <a:txBody>
                    <a:bodyPr/>
                    <a:lstStyle/>
                    <a:p>
                      <a:r>
                        <a:rPr lang="es-ES" sz="1400" dirty="0"/>
                        <a:t>Coberturas (cartera problemática, refinanciada y reestructurada)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18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C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Miden la capacidad de las provisiones para cubrir las carteras que presentan mayor riesgo o han requerido modificaciones en sus condiciones de pago.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170124"/>
                  </a:ext>
                </a:extLst>
              </a:tr>
              <a:tr h="483915">
                <a:tc>
                  <a:txBody>
                    <a:bodyPr/>
                    <a:lstStyle/>
                    <a:p>
                      <a:r>
                        <a:rPr lang="es-ES" sz="1400" dirty="0"/>
                        <a:t>Gastos de operación estimados / Total del activo promedio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 </a:t>
                      </a:r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r>
                        <a:rPr lang="es-ES" dirty="0"/>
                        <a:t>       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200" dirty="0"/>
                        <a:t>Mide el peso de los gastos operativos respecto al nivel promedio de activos administrados.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701426"/>
                  </a:ext>
                </a:extLst>
              </a:tr>
              <a:tr h="341587">
                <a:tc>
                  <a:txBody>
                    <a:bodyPr/>
                    <a:lstStyle/>
                    <a:p>
                      <a:r>
                        <a:rPr lang="es-ES" sz="1400" dirty="0"/>
                        <a:t>Gastos de operación/Margen financiero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 </a:t>
                      </a:r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r>
                        <a:rPr lang="es-ES" dirty="0"/>
                        <a:t>       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200" dirty="0"/>
                        <a:t>Mide qué proporción del margen financiero es absorbida por los gastos de operación.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623534"/>
                  </a:ext>
                </a:extLst>
              </a:tr>
              <a:tr h="483915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dirty="0"/>
                        <a:t>Gastos del personal estimados / Activo promedio 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 </a:t>
                      </a:r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r>
                        <a:rPr lang="es-ES" dirty="0"/>
                        <a:t>       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200" dirty="0"/>
                        <a:t>Mide el peso de los gastos de personal respecto al nivel promedio de activos administrados.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5827403"/>
                  </a:ext>
                </a:extLst>
              </a:tr>
              <a:tr h="426984">
                <a:tc>
                  <a:txBody>
                    <a:bodyPr/>
                    <a:lstStyle/>
                    <a:p>
                      <a:r>
                        <a:rPr lang="es-ES" sz="1400" dirty="0"/>
                        <a:t>ROE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18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200" dirty="0"/>
                        <a:t>Mide la rentabilidad obtenida por la entidad sobre los recursos aportados por sus accionistas o patrimonio.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8492180"/>
                  </a:ext>
                </a:extLst>
              </a:tr>
              <a:tr h="341587">
                <a:tc>
                  <a:txBody>
                    <a:bodyPr/>
                    <a:lstStyle/>
                    <a:p>
                      <a:r>
                        <a:rPr lang="es-ES" sz="1400" dirty="0"/>
                        <a:t>ROA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18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200" dirty="0"/>
                        <a:t>Mide la rentabilidad generada por la entidad en relación con el total de activos.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0375514"/>
                  </a:ext>
                </a:extLst>
              </a:tr>
              <a:tr h="483915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dirty="0"/>
                        <a:t>Cartera bruta / (Depósitos a la vista + Depósitos a plazo)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18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200" dirty="0"/>
                        <a:t>Mide el nivel de intermediación financiera, relacionando los recursos captados mediante depósitos con los créditos colocados.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6800733"/>
                  </a:ext>
                </a:extLst>
              </a:tr>
              <a:tr h="483915">
                <a:tc>
                  <a:txBody>
                    <a:bodyPr/>
                    <a:lstStyle/>
                    <a:p>
                      <a:r>
                        <a:rPr lang="es-ES" sz="1400" dirty="0"/>
                        <a:t>Fondos disponibles / Total depósitos  a corto plazo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18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200" dirty="0"/>
                        <a:t>Mide la capacidad de la entidad para hacer frente a sus obligaciones de corto plazo utilizando recursos líquidos disponibles.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7457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79391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59D7EE-6250-01AD-6C59-088EA73AE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73A304-14A2-BBA1-581F-731AD2A929AF}"/>
              </a:ext>
            </a:extLst>
          </p:cNvPr>
          <p:cNvSpPr/>
          <p:nvPr/>
        </p:nvSpPr>
        <p:spPr>
          <a:xfrm>
            <a:off x="305" y="-41148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9CD0FF-DBC6-B5F0-FA8E-4959F496D9EA}"/>
              </a:ext>
            </a:extLst>
          </p:cNvPr>
          <p:cNvSpPr txBox="1"/>
          <p:nvPr/>
        </p:nvSpPr>
        <p:spPr>
          <a:xfrm>
            <a:off x="377559" y="187917"/>
            <a:ext cx="5246001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0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2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·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DATOS</a:t>
            </a:r>
            <a:endParaRPr sz="2600" b="1" dirty="0">
              <a:solidFill>
                <a:srgbClr val="D3A643"/>
              </a:solidFill>
              <a:latin typeface="Apto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B3329B-E184-D08C-B1B2-06D6171AEB71}"/>
              </a:ext>
            </a:extLst>
          </p:cNvPr>
          <p:cNvSpPr/>
          <p:nvPr/>
        </p:nvSpPr>
        <p:spPr>
          <a:xfrm>
            <a:off x="377559" y="711449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DBAB9D-C68B-0F16-C733-18D3A92FE70A}"/>
              </a:ext>
            </a:extLst>
          </p:cNvPr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7CB827-C45B-118B-7200-E2D658EE2B2F}"/>
              </a:ext>
            </a:extLst>
          </p:cNvPr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02</a:t>
            </a:r>
          </a:p>
        </p:txBody>
      </p:sp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AEC3EEE4-CD80-0E78-3F6B-5A2299448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2800903"/>
              </p:ext>
            </p:extLst>
          </p:nvPr>
        </p:nvGraphicFramePr>
        <p:xfrm>
          <a:off x="327553" y="1106186"/>
          <a:ext cx="11536893" cy="6381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0965">
                  <a:extLst>
                    <a:ext uri="{9D8B030D-6E8A-4147-A177-3AD203B41FA5}">
                      <a16:colId xmlns:a16="http://schemas.microsoft.com/office/drawing/2014/main" val="3123229370"/>
                    </a:ext>
                  </a:extLst>
                </a:gridCol>
                <a:gridCol w="2087468">
                  <a:extLst>
                    <a:ext uri="{9D8B030D-6E8A-4147-A177-3AD203B41FA5}">
                      <a16:colId xmlns:a16="http://schemas.microsoft.com/office/drawing/2014/main" val="3530609082"/>
                    </a:ext>
                  </a:extLst>
                </a:gridCol>
                <a:gridCol w="5508460">
                  <a:extLst>
                    <a:ext uri="{9D8B030D-6E8A-4147-A177-3AD203B41FA5}">
                      <a16:colId xmlns:a16="http://schemas.microsoft.com/office/drawing/2014/main" val="691044971"/>
                    </a:ext>
                  </a:extLst>
                </a:gridCol>
              </a:tblGrid>
              <a:tr h="309306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Indicador</a:t>
                      </a:r>
                      <a:endParaRPr lang="es-EC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Sentido favorable</a:t>
                      </a:r>
                      <a:endParaRPr lang="es-EC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/>
                        <a:t>Significado</a:t>
                      </a:r>
                      <a:endParaRPr lang="es-EC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776496"/>
                  </a:ext>
                </a:extLst>
              </a:tr>
              <a:tr h="309306">
                <a:tc>
                  <a:txBody>
                    <a:bodyPr/>
                    <a:lstStyle/>
                    <a:p>
                      <a:r>
                        <a:rPr lang="es-ES" sz="1400" dirty="0"/>
                        <a:t>Cartera improductiva/ Cartera Bruta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r>
                        <a:rPr lang="es-ES" b="1" dirty="0"/>
                        <a:t>          </a:t>
                      </a:r>
                      <a:endParaRPr lang="es-EC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400" dirty="0"/>
                        <a:t>Proporción de la cartera que no genera ingresos financieros respecto a la cartera total.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1148826"/>
                  </a:ext>
                </a:extLst>
              </a:tr>
              <a:tr h="309306">
                <a:tc>
                  <a:txBody>
                    <a:bodyPr/>
                    <a:lstStyle/>
                    <a:p>
                      <a:r>
                        <a:rPr lang="es-ES" sz="1400" dirty="0"/>
                        <a:t>Cartera Vencida / Cartera Bruta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                 </a:t>
                      </a:r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r>
                        <a:rPr lang="es-ES" dirty="0"/>
                        <a:t>       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C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Proporción de créditos cuyo plazo de pago ha vencido respecto a la cartera total.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6486800"/>
                  </a:ext>
                </a:extLst>
              </a:tr>
              <a:tr h="309306">
                <a:tc>
                  <a:txBody>
                    <a:bodyPr/>
                    <a:lstStyle/>
                    <a:p>
                      <a:r>
                        <a:rPr lang="es-ES" sz="1400" dirty="0"/>
                        <a:t>Cartera que no devenga intereses/ Cartera Bruta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C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Proporción de créditos que han dejado de generar intereses respecto a la cartera total.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105048"/>
                  </a:ext>
                </a:extLst>
              </a:tr>
              <a:tr h="397258">
                <a:tc>
                  <a:txBody>
                    <a:bodyPr/>
                    <a:lstStyle/>
                    <a:p>
                      <a:r>
                        <a:rPr lang="es-ES" sz="1400" dirty="0"/>
                        <a:t>Cartera refinanciada / Cartera Bruta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C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Proporción de la cartera que ha requerido una modificación de sus condiciones de pago por dificultades del deudor.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742478"/>
                  </a:ext>
                </a:extLst>
              </a:tr>
              <a:tr h="309306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dirty="0"/>
                        <a:t>Cartera reestructurada / Cartera Bruta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C" dirty="0">
                          <a:solidFill>
                            <a:srgbClr val="FF0000"/>
                          </a:solidFill>
                        </a:rPr>
                        <a:t>⬇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buNone/>
                      </a:pPr>
                      <a:r>
                        <a:rPr lang="es-E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Proporción de la cartera cuyas condiciones de pago han sido modificadas para facilitar su recuperación.</a:t>
                      </a:r>
                      <a:endParaRPr lang="es-EC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7674396"/>
                  </a:ext>
                </a:extLst>
              </a:tr>
              <a:tr h="317778">
                <a:tc>
                  <a:txBody>
                    <a:bodyPr/>
                    <a:lstStyle/>
                    <a:p>
                      <a:r>
                        <a:rPr lang="es-ES" sz="1400" dirty="0"/>
                        <a:t>Variación interanual de activos totales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C" sz="22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22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buNone/>
                      </a:pPr>
                      <a:r>
                        <a:rPr lang="es-EC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Crecimiento de los activos totales respecto al mismo período del año anterior.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373896"/>
                  </a:ext>
                </a:extLst>
              </a:tr>
              <a:tr h="438184">
                <a:tc>
                  <a:txBody>
                    <a:bodyPr/>
                    <a:lstStyle/>
                    <a:p>
                      <a:r>
                        <a:rPr lang="es-ES" sz="1400" dirty="0"/>
                        <a:t>Variación interanual de la cartera de créditos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22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22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>
                        <a:buNone/>
                      </a:pPr>
                      <a:r>
                        <a:rPr lang="es-EC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Crecimiento de la cartera de créditos respecto al mismo período del año anterior.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170124"/>
                  </a:ext>
                </a:extLst>
              </a:tr>
              <a:tr h="438184">
                <a:tc>
                  <a:txBody>
                    <a:bodyPr/>
                    <a:lstStyle/>
                    <a:p>
                      <a:r>
                        <a:rPr lang="es-ES" sz="1400" dirty="0"/>
                        <a:t>Variación interanual de los depósitos a la vista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22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22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400" dirty="0"/>
                        <a:t>Crecimiento de los depósitos exigibles a la vista respecto al año anterior </a:t>
                      </a:r>
                      <a:endParaRPr lang="es-EC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2701426"/>
                  </a:ext>
                </a:extLst>
              </a:tr>
              <a:tr h="350107">
                <a:tc>
                  <a:txBody>
                    <a:bodyPr/>
                    <a:lstStyle/>
                    <a:p>
                      <a:r>
                        <a:rPr lang="es-ES" sz="1400" dirty="0"/>
                        <a:t>Variación interanual de los depósitos a plazo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22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22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400" dirty="0"/>
                        <a:t>Crecimiento de los depósitos mantenidos a plazo respecto al año anterior.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623534"/>
                  </a:ext>
                </a:extLst>
              </a:tr>
              <a:tr h="309306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dirty="0"/>
                        <a:t>Variación interanual del patrimonio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22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22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400" dirty="0"/>
                        <a:t>Crecimiento de los recursos propios de la entidad respecto al año anterior </a:t>
                      </a:r>
                      <a:endParaRPr lang="es-EC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5827403"/>
                  </a:ext>
                </a:extLst>
              </a:tr>
              <a:tr h="309306">
                <a:tc>
                  <a:txBody>
                    <a:bodyPr/>
                    <a:lstStyle/>
                    <a:p>
                      <a:r>
                        <a:rPr lang="es-ES" sz="1400" dirty="0"/>
                        <a:t>Variación interanual de los fondos disponibles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22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22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400" dirty="0"/>
                        <a:t>Crecimiento de los recursos líquidos y de disponibilidad inmediata respecto al año anterior.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8492180"/>
                  </a:ext>
                </a:extLst>
              </a:tr>
              <a:tr h="309306">
                <a:tc>
                  <a:txBody>
                    <a:bodyPr/>
                    <a:lstStyle/>
                    <a:p>
                      <a:r>
                        <a:rPr lang="es-ES" sz="1400" dirty="0"/>
                        <a:t>Variación interanual de las inversiones</a:t>
                      </a:r>
                      <a:endParaRPr lang="es-EC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2200" dirty="0">
                          <a:solidFill>
                            <a:schemeClr val="tx2"/>
                          </a:solidFill>
                        </a:rPr>
                        <a:t>⬆</a:t>
                      </a:r>
                      <a:endParaRPr lang="es-EC" sz="2200" b="1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C" sz="1400" dirty="0"/>
                        <a:t>Crecimiento de las inversiones financieras respecto al año anterior.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0375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1792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28856A-797E-29F9-E4BF-091E90AB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52F862-1EEC-A780-9361-D08572484A62}"/>
              </a:ext>
            </a:extLst>
          </p:cNvPr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0A31DD-89ED-C49E-F29C-78AE41E27F00}"/>
              </a:ext>
            </a:extLst>
          </p:cNvPr>
          <p:cNvSpPr txBox="1"/>
          <p:nvPr/>
        </p:nvSpPr>
        <p:spPr>
          <a:xfrm>
            <a:off x="594360" y="613572"/>
            <a:ext cx="6720840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0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3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·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 PREPROCESAMIENTO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7DA334-ADA0-E801-6224-860898392E2D}"/>
              </a:ext>
            </a:extLst>
          </p:cNvPr>
          <p:cNvSpPr/>
          <p:nvPr/>
        </p:nvSpPr>
        <p:spPr>
          <a:xfrm>
            <a:off x="544707" y="1151929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F2798A6-F23A-80B9-EFCF-105AF368D55A}"/>
              </a:ext>
            </a:extLst>
          </p:cNvPr>
          <p:cNvSpPr/>
          <p:nvPr/>
        </p:nvSpPr>
        <p:spPr>
          <a:xfrm>
            <a:off x="749807" y="1371855"/>
            <a:ext cx="10012680" cy="1203159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AD4A35-2B46-5760-EDCD-1943FFBC3C71}"/>
              </a:ext>
            </a:extLst>
          </p:cNvPr>
          <p:cNvSpPr/>
          <p:nvPr/>
        </p:nvSpPr>
        <p:spPr>
          <a:xfrm>
            <a:off x="502919" y="1303299"/>
            <a:ext cx="82296" cy="1393083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D2BB4F-BD8B-5677-BE8C-FAC1DE1B4F3B}"/>
              </a:ext>
            </a:extLst>
          </p:cNvPr>
          <p:cNvSpPr txBox="1"/>
          <p:nvPr/>
        </p:nvSpPr>
        <p:spPr>
          <a:xfrm>
            <a:off x="886969" y="1409693"/>
            <a:ext cx="4265135" cy="323165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lang="es-ES" sz="1500" b="1" dirty="0">
                <a:solidFill>
                  <a:srgbClr val="122F52"/>
                </a:solidFill>
                <a:latin typeface="Aptos"/>
              </a:rPr>
              <a:t>HOMOLOGACIÓN DE LA INFORMACIÓN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82410F-5A10-A2ED-C293-244BD98DE3A5}"/>
              </a:ext>
            </a:extLst>
          </p:cNvPr>
          <p:cNvSpPr txBox="1"/>
          <p:nvPr/>
        </p:nvSpPr>
        <p:spPr>
          <a:xfrm>
            <a:off x="886968" y="1752494"/>
            <a:ext cx="9692542" cy="52322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r>
              <a:rPr lang="es-EC" sz="1400" dirty="0"/>
              <a:t>La Superintendencia de Bancos señala que los boletines financieros fueron homologados para garantizar la comparabilidad histórica, tomando como referencia la normativa vigente desde </a:t>
            </a:r>
            <a:r>
              <a:rPr lang="es-EC" sz="1400" b="1" dirty="0"/>
              <a:t>mayo de 2021</a:t>
            </a:r>
            <a:r>
              <a:rPr lang="es-EC" sz="1400" dirty="0"/>
              <a:t>.</a:t>
            </a:r>
            <a:endParaRPr sz="1300" i="1" dirty="0">
              <a:solidFill>
                <a:srgbClr val="27303A"/>
              </a:solidFill>
              <a:latin typeface="Aptos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99BB1D1-AA62-077C-A19A-CF1AE977FA95}"/>
              </a:ext>
            </a:extLst>
          </p:cNvPr>
          <p:cNvSpPr/>
          <p:nvPr/>
        </p:nvSpPr>
        <p:spPr>
          <a:xfrm>
            <a:off x="516637" y="4953948"/>
            <a:ext cx="10012680" cy="1771885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C" sz="1400" dirty="0">
                <a:solidFill>
                  <a:schemeClr val="tx1"/>
                </a:solidFill>
              </a:rPr>
              <a:t>Identificar y caracterizar perfiles financieros de las entidades bancarias privadas del Ecuador, mediante el análisis de los indicadores financieros y los balances contables presentados en los boletines publicados por la Superintendencia de Bancos, por medio de técnicas de reducción de dimensionalidad (PCA) y aprendizaje no supervisado (Clustering). Esto permite analizar la evolución temporal de dichos perfiles y determinar si las entidades se han mantenido o han modificado sus características financieras durante el período 2022-2026</a:t>
            </a:r>
            <a:endParaRPr sz="140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A9C5CC-76E2-4078-97AC-92EAB8768CD2}"/>
              </a:ext>
            </a:extLst>
          </p:cNvPr>
          <p:cNvSpPr/>
          <p:nvPr/>
        </p:nvSpPr>
        <p:spPr>
          <a:xfrm>
            <a:off x="434341" y="2933391"/>
            <a:ext cx="82296" cy="1647418"/>
          </a:xfrm>
          <a:prstGeom prst="rect">
            <a:avLst/>
          </a:prstGeom>
          <a:solidFill>
            <a:srgbClr val="5B9BD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BD650F-0324-E2FC-1BB0-89717DE5AC1B}"/>
              </a:ext>
            </a:extLst>
          </p:cNvPr>
          <p:cNvSpPr txBox="1"/>
          <p:nvPr/>
        </p:nvSpPr>
        <p:spPr>
          <a:xfrm>
            <a:off x="749808" y="4068005"/>
            <a:ext cx="2834639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lang="es-ES" sz="1500" b="1" dirty="0">
                <a:solidFill>
                  <a:srgbClr val="122F52"/>
                </a:solidFill>
                <a:latin typeface="Aptos"/>
              </a:rPr>
              <a:t>OBJETIVOS</a:t>
            </a:r>
            <a:endParaRPr sz="1500" b="1" dirty="0">
              <a:solidFill>
                <a:srgbClr val="122F52"/>
              </a:solidFill>
              <a:latin typeface="Apto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F907B7-1C4A-121B-67F4-EB49EECAC1C5}"/>
              </a:ext>
            </a:extLst>
          </p:cNvPr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83BA80-001B-3D5B-801D-D05B2484A468}"/>
              </a:ext>
            </a:extLst>
          </p:cNvPr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7">
            <a:extLst>
              <a:ext uri="{FF2B5EF4-FFF2-40B4-BE49-F238E27FC236}">
                <a16:creationId xmlns:a16="http://schemas.microsoft.com/office/drawing/2014/main" id="{246403F6-3FC9-00E4-9D04-E4F9DCA15ECC}"/>
              </a:ext>
            </a:extLst>
          </p:cNvPr>
          <p:cNvSpPr/>
          <p:nvPr/>
        </p:nvSpPr>
        <p:spPr>
          <a:xfrm>
            <a:off x="726899" y="2737232"/>
            <a:ext cx="10012680" cy="1203159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830660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4394" y="718622"/>
            <a:ext cx="7222286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0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4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· 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ANÁLISIS EXPLORATORIO DE DATOS (EDA) </a:t>
            </a:r>
            <a:endParaRPr sz="2600" b="1" dirty="0">
              <a:solidFill>
                <a:srgbClr val="D3A643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4394" y="1401572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865630"/>
            <a:ext cx="2423160" cy="1188720"/>
          </a:xfrm>
          <a:prstGeom prst="round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2008252"/>
            <a:ext cx="2203704" cy="44627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ptos"/>
              </a:rPr>
              <a:t>2021–2026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96175"/>
            <a:ext cx="2148840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  <a:latin typeface="Aptos"/>
              </a:rPr>
              <a:t>Período de análisis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1865630"/>
            <a:ext cx="2423160" cy="1188720"/>
          </a:xfrm>
          <a:prstGeom prst="roundRect">
            <a:avLst/>
          </a:prstGeom>
          <a:solidFill>
            <a:srgbClr val="5B9BD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67328" y="2008252"/>
            <a:ext cx="2203704" cy="44627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ptos"/>
              </a:rPr>
              <a:t>1.207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496175"/>
            <a:ext cx="2148840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  <a:latin typeface="Aptos"/>
              </a:rPr>
              <a:t>Observaciones banco–año–mes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865630"/>
            <a:ext cx="2423160" cy="1188720"/>
          </a:xfrm>
          <a:prstGeom prst="round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84848" y="2008252"/>
            <a:ext cx="2203704" cy="44627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ptos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496175"/>
            <a:ext cx="2148840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  <a:latin typeface="Aptos"/>
              </a:rPr>
              <a:t>Indicadores utilizados en PCA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0" y="1865630"/>
            <a:ext cx="2423160" cy="1188720"/>
          </a:xfrm>
          <a:prstGeom prst="round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02367" y="2008252"/>
            <a:ext cx="2203704" cy="44627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2496175"/>
            <a:ext cx="2148840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  <a:latin typeface="Aptos"/>
              </a:rPr>
              <a:t>Fuentes integradas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86904"/>
            <a:ext cx="3657600" cy="36933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b="1">
                <a:solidFill>
                  <a:srgbClr val="122F52"/>
                </a:solidFill>
                <a:latin typeface="Aptos"/>
              </a:rPr>
              <a:t>Integración de información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060190"/>
            <a:ext cx="4892040" cy="530352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4120684"/>
            <a:ext cx="1508760" cy="25391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D3A643"/>
                </a:solidFill>
                <a:latin typeface="Aptos"/>
              </a:rPr>
              <a:t>INDICADORES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4130553"/>
            <a:ext cx="2880360" cy="2616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100">
                <a:solidFill>
                  <a:srgbClr val="27303A"/>
                </a:solidFill>
                <a:latin typeface="Aptos"/>
              </a:rPr>
              <a:t>Indicadores financieros publicados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773422"/>
            <a:ext cx="4892040" cy="530352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4833916"/>
            <a:ext cx="1508760" cy="25391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D3A643"/>
                </a:solidFill>
                <a:latin typeface="Aptos"/>
              </a:rPr>
              <a:t>COMPOS CART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4843785"/>
            <a:ext cx="2880360" cy="2616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100">
                <a:solidFill>
                  <a:srgbClr val="27303A"/>
                </a:solidFill>
                <a:latin typeface="Aptos"/>
              </a:rPr>
              <a:t>Composición y calidad de cartera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654"/>
            <a:ext cx="4892040" cy="530352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5547148"/>
            <a:ext cx="1508760" cy="25391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D3A643"/>
                </a:solidFill>
                <a:latin typeface="Aptos"/>
              </a:rPr>
              <a:t>BALANCE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557017"/>
            <a:ext cx="2880360" cy="2616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100">
                <a:solidFill>
                  <a:srgbClr val="27303A"/>
                </a:solidFill>
                <a:latin typeface="Aptos"/>
              </a:rPr>
              <a:t>Cuentas para crecimiento interanual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89320" y="3511550"/>
            <a:ext cx="5166360" cy="2240280"/>
          </a:xfrm>
          <a:prstGeom prst="roundRect">
            <a:avLst/>
          </a:prstGeom>
          <a:solidFill>
            <a:srgbClr val="F7F5E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63640" y="3749404"/>
            <a:ext cx="2926080" cy="2923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22F52"/>
                </a:solidFill>
                <a:latin typeface="Aptos"/>
              </a:rPr>
              <a:t>FEATURE ENGINEERING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197350"/>
            <a:ext cx="4526280" cy="861774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>
                <a:solidFill>
                  <a:srgbClr val="27303A"/>
                </a:solidFill>
                <a:latin typeface="Aptos"/>
              </a:rPr>
              <a:t>• Indicadores relativos de composición de cartera
• Crecimiento interanual de activos, cartera, depósitos, patrimonio, fondos e inversiones
• Variables comparables entre entidades de diferente tamaño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94360" y="145415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88660"/>
            <a:ext cx="2926080" cy="3539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22F52"/>
                </a:solidFill>
                <a:latin typeface="Aptos"/>
              </a:rPr>
              <a:t>PIPELINE DE PREPARACIÓN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1" y="2277110"/>
            <a:ext cx="1874519" cy="658368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2438913"/>
            <a:ext cx="320040" cy="2616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3A643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433616"/>
            <a:ext cx="1298448" cy="25391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22F52"/>
                </a:solidFill>
                <a:latin typeface="Aptos"/>
              </a:rPr>
              <a:t>Integración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9" y="2277110"/>
            <a:ext cx="1874519" cy="658368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44368" y="2438913"/>
            <a:ext cx="320040" cy="2616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3A643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82696" y="2433616"/>
            <a:ext cx="1298448" cy="25391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22F52"/>
                </a:solidFill>
                <a:latin typeface="Aptos"/>
              </a:rPr>
              <a:t>Homogeneización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7" y="2277110"/>
            <a:ext cx="1874519" cy="658368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57216" y="2438913"/>
            <a:ext cx="320040" cy="2616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3A643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95544" y="2433616"/>
            <a:ext cx="1298448" cy="25391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22F52"/>
                </a:solidFill>
                <a:latin typeface="Aptos"/>
              </a:rPr>
              <a:t>Faltantes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78625" y="2277110"/>
            <a:ext cx="1874519" cy="658368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70064" y="2438913"/>
            <a:ext cx="320040" cy="2616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3A643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2352825"/>
            <a:ext cx="1298448" cy="41549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22F52"/>
                </a:solidFill>
                <a:latin typeface="Aptos"/>
              </a:rPr>
              <a:t>Duplicados / formatos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91473" y="2277110"/>
            <a:ext cx="1874519" cy="658368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82911" y="2438913"/>
            <a:ext cx="320040" cy="2616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3A643"/>
                </a:solidFill>
                <a:latin typeface="Apto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352825"/>
            <a:ext cx="1298448" cy="41549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22F52"/>
                </a:solidFill>
                <a:latin typeface="Aptos"/>
              </a:rPr>
              <a:t>Feature engineering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420110"/>
            <a:ext cx="5074920" cy="214884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3420110"/>
            <a:ext cx="82296" cy="2148840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6968" y="3575558"/>
            <a:ext cx="466344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DECISIONES DE LIMPIEZA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3987038"/>
            <a:ext cx="4663440" cy="861774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>
                <a:solidFill>
                  <a:srgbClr val="27303A"/>
                </a:solidFill>
                <a:latin typeface="Aptos"/>
              </a:rPr>
              <a:t>• Variables no comparables eliminadas.
• Variables redundantes eliminadas mediante correlación.
• Revisión de faltantes y consistencia.
• Outliers detectados mediante IQR.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3420110"/>
            <a:ext cx="5074920" cy="214884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080760" y="3420110"/>
            <a:ext cx="82296" cy="2148840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27648" y="3575558"/>
            <a:ext cx="466344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CRITERIO SOBRE OUTLIERS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3987038"/>
            <a:ext cx="4663440" cy="861774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>
                <a:solidFill>
                  <a:srgbClr val="27303A"/>
                </a:solidFill>
                <a:latin typeface="Aptos"/>
              </a:rPr>
              <a:t>Los valores extremos fueron detectados pero no eliminados automáticamente, porque pueden representar situaciones financieras reales y modificar la estructura que identifica el clustering.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010872"/>
            <a:ext cx="10515600" cy="323165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Resultado → base analítica depurada y comparable entre entidades y períodos.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04</a:t>
            </a:r>
          </a:p>
        </p:txBody>
      </p:sp>
      <p:sp>
        <p:nvSpPr>
          <p:cNvPr id="34" name="TextBox 2">
            <a:extLst>
              <a:ext uri="{FF2B5EF4-FFF2-40B4-BE49-F238E27FC236}">
                <a16:creationId xmlns:a16="http://schemas.microsoft.com/office/drawing/2014/main" id="{55AF003C-6768-1EBF-2D8D-04873F7E9321}"/>
              </a:ext>
            </a:extLst>
          </p:cNvPr>
          <p:cNvSpPr txBox="1"/>
          <p:nvPr/>
        </p:nvSpPr>
        <p:spPr>
          <a:xfrm>
            <a:off x="356601" y="800849"/>
            <a:ext cx="8968152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0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5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· 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ANÁLISIS DE COMPONENTES PRINCIPALES (PCA) </a:t>
            </a:r>
            <a:endParaRPr sz="2600" b="1" dirty="0">
              <a:solidFill>
                <a:srgbClr val="D3A64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94360" y="145415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74190"/>
            <a:ext cx="5120640" cy="3383280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868345"/>
            <a:ext cx="4297680" cy="64633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b="1">
                <a:solidFill>
                  <a:srgbClr val="6C7884"/>
                </a:solidFill>
                <a:latin typeface="Aptos"/>
              </a:rPr>
              <a:t>INSERTAR MATRIZ DE
CORRELACIONES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774190"/>
            <a:ext cx="5074920" cy="3383280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2868345"/>
            <a:ext cx="4343400" cy="64633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b="1">
                <a:solidFill>
                  <a:srgbClr val="6C7884"/>
                </a:solidFill>
                <a:latin typeface="Aptos"/>
              </a:rPr>
              <a:t>INSERTAR DISTRIBUCIONES /
OUTLIERS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98809"/>
            <a:ext cx="2743200" cy="323165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D3A643"/>
                </a:solidFill>
                <a:latin typeface="Aptos"/>
              </a:rPr>
              <a:t>¿Qué aportó el EDA?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459223"/>
            <a:ext cx="8229600" cy="715581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22F52"/>
                </a:solidFill>
                <a:latin typeface="Aptos"/>
              </a:rPr>
              <a:t>Correlaciones elevadas → redundancia
Valores extremos → interpretación, no eliminación mecánica
Escalas diferentes → estandarización antes de PCA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05</a:t>
            </a:r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CEEA33C5-F110-C969-80C1-30C13EE5AAF0}"/>
              </a:ext>
            </a:extLst>
          </p:cNvPr>
          <p:cNvSpPr txBox="1"/>
          <p:nvPr/>
        </p:nvSpPr>
        <p:spPr>
          <a:xfrm>
            <a:off x="356601" y="800849"/>
            <a:ext cx="8968152" cy="4924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600" b="1" dirty="0">
                <a:solidFill>
                  <a:srgbClr val="D3A643"/>
                </a:solidFill>
                <a:latin typeface="Aptos"/>
              </a:rPr>
              <a:t>0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6</a:t>
            </a:r>
            <a:r>
              <a:rPr sz="2600" b="1" dirty="0">
                <a:solidFill>
                  <a:srgbClr val="D3A643"/>
                </a:solidFill>
                <a:latin typeface="Aptos"/>
              </a:rPr>
              <a:t> · </a:t>
            </a:r>
            <a:r>
              <a:rPr lang="es-ES" sz="2600" b="1" dirty="0">
                <a:solidFill>
                  <a:srgbClr val="D3A643"/>
                </a:solidFill>
                <a:latin typeface="Aptos"/>
              </a:rPr>
              <a:t>CLUSTERING </a:t>
            </a:r>
            <a:endParaRPr sz="2600" b="1" dirty="0">
              <a:solidFill>
                <a:srgbClr val="D3A64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748221"/>
            <a:ext cx="228600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05 · PCA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82676"/>
            <a:ext cx="10241280" cy="43088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PCA mediante SVD: de 24 indicadores a una representación compacta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5415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865630"/>
            <a:ext cx="3794760" cy="2423160"/>
          </a:xfrm>
          <a:prstGeom prst="round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266960"/>
            <a:ext cx="3246120" cy="5232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ptos"/>
              </a:rPr>
              <a:t>Z = UΣVᵀ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08156"/>
            <a:ext cx="3246120" cy="2923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97D7D3"/>
                </a:solidFill>
                <a:latin typeface="Aptos"/>
              </a:rPr>
              <a:t>Estandarización + SVD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87771"/>
            <a:ext cx="3246120" cy="3847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T = ZV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865630"/>
            <a:ext cx="6446520" cy="3154680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80" y="2616885"/>
            <a:ext cx="5440680" cy="64633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b="1">
                <a:solidFill>
                  <a:srgbClr val="6C7884"/>
                </a:solidFill>
                <a:latin typeface="Aptos"/>
              </a:rPr>
              <a:t>INSERTAR GRÁFICO DE
VARIANZA EXPLICADA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691196"/>
            <a:ext cx="5440680" cy="3539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35B91"/>
                </a:solidFill>
                <a:latin typeface="Aptos"/>
              </a:rPr>
              <a:t>PC11 ≈ 80%   |   PC15 ≈ 91%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5002"/>
            <a:ext cx="10515600" cy="30777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7303A"/>
                </a:solidFill>
                <a:latin typeface="Aptos"/>
              </a:rPr>
              <a:t>Las cargas permiten relacionar cada componente con los indicadores financieros originales.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748221"/>
            <a:ext cx="228600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06 · SELECCIÓN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82676"/>
            <a:ext cx="10241280" cy="43088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PC11 vs. PC15: más varianza no implica mejor clustering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5415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703824"/>
            <a:ext cx="3200400" cy="36933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b="1">
                <a:solidFill>
                  <a:srgbClr val="122F52"/>
                </a:solidFill>
                <a:latin typeface="Aptos"/>
              </a:rPr>
              <a:t>Comparación para K = 2–10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77110"/>
            <a:ext cx="4160520" cy="530352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367936"/>
            <a:ext cx="406908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Aptos"/>
              </a:rPr>
              <a:t>Criterio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2277110"/>
            <a:ext cx="2880360" cy="530352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2367936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Aptos"/>
              </a:rPr>
              <a:t>PC11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59" y="2277110"/>
            <a:ext cx="2880360" cy="530352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6679" y="2367936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Aptos"/>
              </a:rPr>
              <a:t>PC15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71470"/>
            <a:ext cx="4160520" cy="566928"/>
          </a:xfrm>
          <a:prstGeom prst="rect">
            <a:avLst/>
          </a:prstGeom>
          <a:solidFill>
            <a:srgbClr val="F7F5EE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980584"/>
            <a:ext cx="406908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 dirty="0" err="1">
                <a:solidFill>
                  <a:srgbClr val="122F52"/>
                </a:solidFill>
                <a:latin typeface="Aptos"/>
              </a:rPr>
              <a:t>Varianza</a:t>
            </a:r>
            <a:r>
              <a:rPr sz="1250" b="1" dirty="0">
                <a:solidFill>
                  <a:srgbClr val="122F52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22F52"/>
                </a:solidFill>
                <a:latin typeface="Aptos"/>
              </a:rPr>
              <a:t>acumulada</a:t>
            </a:r>
            <a:endParaRPr sz="1250" b="1" dirty="0">
              <a:solidFill>
                <a:srgbClr val="122F52"/>
              </a:solidFill>
              <a:latin typeface="Apto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800600" y="2871470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46320" y="2980584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>
                <a:solidFill>
                  <a:srgbClr val="27303A"/>
                </a:solidFill>
                <a:latin typeface="Aptos"/>
              </a:rPr>
              <a:t>≈ 80%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59" y="2871470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26679" y="2980584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>
                <a:solidFill>
                  <a:srgbClr val="27303A"/>
                </a:solidFill>
                <a:latin typeface="Aptos"/>
              </a:rPr>
              <a:t>≈ 91%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29837"/>
            <a:ext cx="4160520" cy="566928"/>
          </a:xfrm>
          <a:prstGeom prst="rect">
            <a:avLst/>
          </a:prstGeom>
          <a:solidFill>
            <a:srgbClr val="F7F5EE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3638951"/>
            <a:ext cx="406908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122F52"/>
                </a:solidFill>
                <a:latin typeface="Aptos"/>
              </a:rPr>
              <a:t>Silhouette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529837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46320" y="3638951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>
                <a:solidFill>
                  <a:srgbClr val="27303A"/>
                </a:solidFill>
                <a:latin typeface="Aptos"/>
              </a:rPr>
              <a:t>Mejor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0959" y="3529837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26679" y="3638951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>
                <a:solidFill>
                  <a:srgbClr val="27303A"/>
                </a:solidFill>
                <a:latin typeface="Aptos"/>
              </a:rPr>
              <a:t>Menor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188206"/>
            <a:ext cx="4160520" cy="566928"/>
          </a:xfrm>
          <a:prstGeom prst="rect">
            <a:avLst/>
          </a:prstGeom>
          <a:solidFill>
            <a:srgbClr val="F7F5EE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4297320"/>
            <a:ext cx="406908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122F52"/>
                </a:solidFill>
                <a:latin typeface="Aptos"/>
              </a:rPr>
              <a:t>Davies-Bouldin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188206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46320" y="4297320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>
                <a:solidFill>
                  <a:srgbClr val="27303A"/>
                </a:solidFill>
                <a:latin typeface="Aptos"/>
              </a:rPr>
              <a:t>Menor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59" y="4188206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26679" y="4297320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>
                <a:solidFill>
                  <a:srgbClr val="27303A"/>
                </a:solidFill>
                <a:latin typeface="Aptos"/>
              </a:rPr>
              <a:t>Mayor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846574"/>
            <a:ext cx="4160520" cy="566928"/>
          </a:xfrm>
          <a:prstGeom prst="rect">
            <a:avLst/>
          </a:prstGeom>
          <a:solidFill>
            <a:srgbClr val="F7F5EE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955688"/>
            <a:ext cx="406908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122F52"/>
                </a:solidFill>
                <a:latin typeface="Aptos"/>
              </a:rPr>
              <a:t>Calinski-Harabasz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4846574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0" y="4955688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>
                <a:solidFill>
                  <a:srgbClr val="27303A"/>
                </a:solidFill>
                <a:latin typeface="Aptos"/>
              </a:rPr>
              <a:t>Mayor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80959" y="4846574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26679" y="4955688"/>
            <a:ext cx="2788920" cy="28469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>
                <a:solidFill>
                  <a:srgbClr val="27303A"/>
                </a:solidFill>
                <a:latin typeface="Aptos"/>
              </a:rPr>
              <a:t>Menor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706110"/>
            <a:ext cx="9921240" cy="685800"/>
          </a:xfrm>
          <a:prstGeom prst="round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846281"/>
            <a:ext cx="2423160" cy="323165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D3A643"/>
                </a:solidFill>
                <a:latin typeface="Aptos"/>
              </a:rPr>
              <a:t>DECISIÓN → PC11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37560" y="5857821"/>
            <a:ext cx="6766560" cy="30008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Aptos"/>
              </a:rPr>
              <a:t>Mejor estructura para clustering, aun conservando menos varianza que PC15.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748221"/>
            <a:ext cx="228600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07 ·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82676"/>
            <a:ext cx="10241280" cy="43088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K-Means: selección de K y estabilidad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5415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819910"/>
            <a:ext cx="3794760" cy="324612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19910"/>
            <a:ext cx="82296" cy="3246120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975357"/>
            <a:ext cx="338328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PROCESO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86838"/>
            <a:ext cx="3383280" cy="1938992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500">
                <a:solidFill>
                  <a:srgbClr val="27303A"/>
                </a:solidFill>
                <a:latin typeface="Aptos"/>
              </a:rPr>
              <a:t>Inicializar centroides
↓
Asignar observaciones al centroide más cercano
↓
Recalcular centroides
↓
Iterar hasta convergencia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819910"/>
            <a:ext cx="3017520" cy="146304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709160" y="1819910"/>
            <a:ext cx="82296" cy="1463040"/>
          </a:xfrm>
          <a:prstGeom prst="rect">
            <a:avLst/>
          </a:prstGeom>
          <a:solidFill>
            <a:srgbClr val="5B9BD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6049" y="1975357"/>
            <a:ext cx="2606039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CALIDAD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9" y="2386838"/>
            <a:ext cx="2606039" cy="738664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400">
                <a:solidFill>
                  <a:srgbClr val="27303A"/>
                </a:solidFill>
                <a:latin typeface="Aptos"/>
              </a:rPr>
              <a:t>Silhouette ↑
Davies-Bouldin ↓
Calinski-Harabasz 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819910"/>
            <a:ext cx="3200400" cy="146304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819910"/>
            <a:ext cx="82296" cy="1463040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02167" y="1975357"/>
            <a:ext cx="278892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ESTABILIDAD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7" y="2386838"/>
            <a:ext cx="2788920" cy="52322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400">
                <a:solidFill>
                  <a:srgbClr val="27303A"/>
                </a:solidFill>
                <a:latin typeface="Aptos"/>
              </a:rPr>
              <a:t>ARI con 10 semillas
45 comparaciones por 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9160" y="3557270"/>
            <a:ext cx="6446520" cy="150876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09160" y="3557270"/>
            <a:ext cx="82296" cy="1508760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6048" y="3712718"/>
            <a:ext cx="603504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SELECCIÓN FINAL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4124198"/>
            <a:ext cx="6035040" cy="707886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2000">
                <a:solidFill>
                  <a:srgbClr val="27303A"/>
                </a:solidFill>
                <a:latin typeface="Aptos"/>
              </a:rPr>
              <a:t>PC11 + K = 4
ARI = 1.00 para K=4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613108"/>
            <a:ext cx="10469880" cy="323165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También se revisaron tamaño de clusters y parsimonia: K=4 evita una fragmentación excesiva.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748221"/>
            <a:ext cx="228600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08 · CARACTERIZACIÓN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82676"/>
            <a:ext cx="10241280" cy="43088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Los cuatro perfiles financieros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5415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865631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65631"/>
            <a:ext cx="91440" cy="1874519"/>
          </a:xfrm>
          <a:prstGeom prst="rect">
            <a:avLst/>
          </a:prstGeom>
          <a:solidFill>
            <a:srgbClr val="367E5B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025260"/>
            <a:ext cx="1188720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6C7884"/>
                </a:solidFill>
                <a:latin typeface="Aptos"/>
              </a:rPr>
              <a:t>CLUSTER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639"/>
            <a:ext cx="4526280" cy="3847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22F52"/>
                </a:solidFill>
                <a:latin typeface="Aptos"/>
              </a:rPr>
              <a:t>EXCELENTE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71470"/>
            <a:ext cx="4434840" cy="477054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>
                <a:solidFill>
                  <a:srgbClr val="27303A"/>
                </a:solidFill>
                <a:latin typeface="Aptos"/>
              </a:rPr>
              <a:t>Solidez financiera, calidad crediticia,
cobertura y rentabilidad superior.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65631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1865631"/>
            <a:ext cx="91440" cy="1874519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2025260"/>
            <a:ext cx="1188720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6C7884"/>
                </a:solidFill>
                <a:latin typeface="Aptos"/>
              </a:rPr>
              <a:t>CLUSTER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331639"/>
            <a:ext cx="4526280" cy="3847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22F52"/>
                </a:solidFill>
                <a:latin typeface="Aptos"/>
              </a:rPr>
              <a:t>ESTABLE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71470"/>
            <a:ext cx="4434840" cy="477054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>
                <a:solidFill>
                  <a:srgbClr val="27303A"/>
                </a:solidFill>
                <a:latin typeface="Aptos"/>
              </a:rPr>
              <a:t>Estabilidad, crecimiento moderado
y eficiencia relativa.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05911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4105911"/>
            <a:ext cx="91440" cy="1874519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4265540"/>
            <a:ext cx="1188720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6C7884"/>
                </a:solidFill>
                <a:latin typeface="Aptos"/>
              </a:rPr>
              <a:t>CLUSTER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71919"/>
            <a:ext cx="4526280" cy="3847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22F52"/>
                </a:solidFill>
                <a:latin typeface="Aptos"/>
              </a:rPr>
              <a:t>ALTA CAPITALIZACIÓN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11750"/>
            <a:ext cx="4434840" cy="477054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>
                <a:solidFill>
                  <a:srgbClr val="27303A"/>
                </a:solidFill>
                <a:latin typeface="Aptos"/>
              </a:rPr>
              <a:t>Mayor capitalización, liquidez y dinamismo
de depósitos; mayores gastos y morosidad.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105911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4105911"/>
            <a:ext cx="91440" cy="1874519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4265540"/>
            <a:ext cx="1188720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6C7884"/>
                </a:solidFill>
                <a:latin typeface="Aptos"/>
              </a:rPr>
              <a:t>CLUSTER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571919"/>
            <a:ext cx="4526280" cy="3847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22F52"/>
                </a:solidFill>
                <a:latin typeface="Aptos"/>
              </a:rPr>
              <a:t>MAYOR DETERIORO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111750"/>
            <a:ext cx="4434840" cy="477054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>
                <a:solidFill>
                  <a:srgbClr val="27303A"/>
                </a:solidFill>
                <a:latin typeface="Aptos"/>
              </a:rPr>
              <a:t>Mayor morosidad, menor rentabilidad
y menor crecimiento relativo.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6192080"/>
            <a:ext cx="9829800" cy="3539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122F52"/>
                </a:solidFill>
                <a:latin typeface="Aptos"/>
              </a:rPr>
              <a:t>Orden financiero relativo:   C3  →  C0  →  C1  →  C2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748221"/>
            <a:ext cx="228600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09 · EVOLUCIÓN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82676"/>
            <a:ext cx="10241280" cy="43088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Evolución temporal: persistencia y transiciones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5415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74190"/>
            <a:ext cx="6537960" cy="4160520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17320" y="3311495"/>
            <a:ext cx="4983480" cy="40011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6C7884"/>
                </a:solidFill>
                <a:latin typeface="Aptos"/>
              </a:rPr>
              <a:t>INSERTAR HEATMAP TEMPORAL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813302"/>
            <a:ext cx="4983480" cy="2743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00">
                <a:solidFill>
                  <a:srgbClr val="6C7884"/>
                </a:solidFill>
                <a:latin typeface="Aptos"/>
              </a:rPr>
              <a:t>Entidad × Año-Mes × Cluster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806807"/>
            <a:ext cx="3657600" cy="346249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650" b="1">
                <a:solidFill>
                  <a:srgbClr val="122F52"/>
                </a:solidFill>
                <a:latin typeface="Aptos"/>
              </a:rPr>
              <a:t>TRANSICIONES OBSERVADAS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322830"/>
            <a:ext cx="36576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26679" y="2382600"/>
            <a:ext cx="960120" cy="2462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D-Miro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2386838"/>
            <a:ext cx="2240280" cy="2468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7303A"/>
                </a:solidFill>
                <a:latin typeface="Aptos"/>
              </a:rPr>
              <a:t>C1 → C2 → C1 → C2 → C1 → C0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2962910"/>
            <a:ext cx="36576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26679" y="3022681"/>
            <a:ext cx="960120" cy="2462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Capital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026918"/>
            <a:ext cx="2240280" cy="2468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7303A"/>
                </a:solidFill>
                <a:latin typeface="Aptos"/>
              </a:rPr>
              <a:t>C0 → C2 → C0 | C0 → C1 → C0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602989"/>
            <a:ext cx="36576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26679" y="3662760"/>
            <a:ext cx="960120" cy="2462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Diners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3666997"/>
            <a:ext cx="2240280" cy="2468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7303A"/>
                </a:solidFill>
                <a:latin typeface="Aptos"/>
              </a:rPr>
              <a:t>C1 ↔ C0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4243070"/>
            <a:ext cx="36576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26679" y="4302841"/>
            <a:ext cx="960120" cy="2462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Codesarrollo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4307078"/>
            <a:ext cx="2240280" cy="2468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7303A"/>
                </a:solidFill>
                <a:latin typeface="Aptos"/>
              </a:rPr>
              <a:t>C0 → C1 → C0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883150"/>
            <a:ext cx="36576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26679" y="4942921"/>
            <a:ext cx="960120" cy="24622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Delbank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4947158"/>
            <a:ext cx="2240280" cy="2468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7303A"/>
                </a:solidFill>
                <a:latin typeface="Aptos"/>
              </a:rPr>
              <a:t>C1 → C0 → C1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43319"/>
            <a:ext cx="10561320" cy="31547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22F52"/>
                </a:solidFill>
                <a:latin typeface="Aptos"/>
              </a:rPr>
              <a:t>Hallazgo → la mayoría de entidades mantiene su perfil; los cambios se concentran en pocas instituciones.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748221"/>
            <a:ext cx="228600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10 · 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82676"/>
            <a:ext cx="10241280" cy="43088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Conclusiones finales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5415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74190"/>
            <a:ext cx="566928" cy="566928"/>
          </a:xfrm>
          <a:prstGeom prst="round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920103"/>
            <a:ext cx="566928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757240"/>
            <a:ext cx="2514600" cy="3539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22F52"/>
                </a:solidFill>
                <a:latin typeface="Aptos"/>
              </a:rPr>
              <a:t>Cuatro perfiles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870312"/>
            <a:ext cx="7040880" cy="2923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00">
                <a:solidFill>
                  <a:srgbClr val="27303A"/>
                </a:solidFill>
                <a:latin typeface="Aptos"/>
              </a:rPr>
              <a:t>El clustering identifica estructuras financieras diferenciadas e interpretables.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98318"/>
            <a:ext cx="566928" cy="566928"/>
          </a:xfrm>
          <a:prstGeom prst="round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944231"/>
            <a:ext cx="566928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781368"/>
            <a:ext cx="2514600" cy="3539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22F52"/>
                </a:solidFill>
                <a:latin typeface="Aptos"/>
              </a:rPr>
              <a:t>PC11 + K=4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894440"/>
            <a:ext cx="7040880" cy="2923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00">
                <a:solidFill>
                  <a:srgbClr val="27303A"/>
                </a:solidFill>
                <a:latin typeface="Aptos"/>
              </a:rPr>
              <a:t>La solución combina calidad, estabilidad, tamaño razonable e interpretación financiera.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22446"/>
            <a:ext cx="566928" cy="566928"/>
          </a:xfrm>
          <a:prstGeom prst="round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968359"/>
            <a:ext cx="566928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05496"/>
            <a:ext cx="2514600" cy="3539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22F52"/>
                </a:solidFill>
                <a:latin typeface="Aptos"/>
              </a:rPr>
              <a:t>Perfil financiero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918568"/>
            <a:ext cx="7040880" cy="2923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00">
                <a:solidFill>
                  <a:srgbClr val="27303A"/>
                </a:solidFill>
                <a:latin typeface="Aptos"/>
              </a:rPr>
              <a:t>Los indicadores originales permiten traducir los clusters a características económicas.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846574"/>
            <a:ext cx="566928" cy="566928"/>
          </a:xfrm>
          <a:prstGeom prst="round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992487"/>
            <a:ext cx="566928" cy="238527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829624"/>
            <a:ext cx="2514600" cy="353943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22F52"/>
                </a:solidFill>
                <a:latin typeface="Aptos"/>
              </a:rPr>
              <a:t>Persistencia temporal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942696"/>
            <a:ext cx="7040880" cy="2923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00">
                <a:solidFill>
                  <a:srgbClr val="27303A"/>
                </a:solidFill>
                <a:latin typeface="Aptos"/>
              </a:rPr>
              <a:t>La mayoría mantiene su perfil; los cambios se concentran en entidades y períodos específicos.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6071870"/>
            <a:ext cx="10195560" cy="594360"/>
          </a:xfrm>
          <a:prstGeom prst="round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34440" y="6101420"/>
            <a:ext cx="9646920" cy="507831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Las entidades presentan perfiles financieros diferenciados que pueden ser identificados y monitoreados mediante aprendizaje no supervisado.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7024852"/>
            <a:ext cx="5029200" cy="21544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7011861"/>
            <a:ext cx="502920" cy="22313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539750"/>
            <a:ext cx="12191695" cy="118872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" y="6894830"/>
            <a:ext cx="12191695" cy="502920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464336"/>
            <a:ext cx="10332720" cy="67710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22F52"/>
                </a:solidFill>
                <a:latin typeface="Aptos"/>
              </a:rP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50163"/>
            <a:ext cx="10332720" cy="47705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500" b="1">
                <a:solidFill>
                  <a:srgbClr val="D3A643"/>
                </a:solidFill>
                <a:latin typeface="Aptos"/>
              </a:rPr>
              <a:t>Preguntas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49240" y="3968750"/>
            <a:ext cx="1508760" cy="45720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356031"/>
            <a:ext cx="10332720" cy="276999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00">
                <a:solidFill>
                  <a:srgbClr val="6C7884"/>
                </a:solidFill>
                <a:latin typeface="Aptos"/>
              </a:rPr>
              <a:t>PCA + K-Means  |  Perfiles financieros 2021–2026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300470"/>
            <a:ext cx="10332720" cy="2286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Aptos"/>
              </a:rPr>
              <a:t>MSDS 6014 · Matemáticas y Programación 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1767</Words>
  <Application>Microsoft Office PowerPoint</Application>
  <PresentationFormat>Personalizado</PresentationFormat>
  <Paragraphs>266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ASUS</dc:creator>
  <cp:keywords/>
  <dc:description>generated using python-pptx</dc:description>
  <cp:lastModifiedBy>Darlyn Maithé Ludeña Cedeño</cp:lastModifiedBy>
  <cp:revision>12</cp:revision>
  <dcterms:created xsi:type="dcterms:W3CDTF">2013-01-27T09:14:16Z</dcterms:created>
  <dcterms:modified xsi:type="dcterms:W3CDTF">2026-09-11T07:34:24Z</dcterms:modified>
  <cp:category/>
</cp:coreProperties>
</file>